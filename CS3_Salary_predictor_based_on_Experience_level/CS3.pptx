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" charset="1" panose="020B0604020202020204"/>
      <p:regular r:id="rId12"/>
    </p:embeddedFont>
    <p:embeddedFont>
      <p:font typeface="Arimo Bold" charset="1" panose="020B0704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5" id="5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18682" y="60274"/>
            <a:ext cx="10169318" cy="10287000"/>
            <a:chOff x="0" y="0"/>
            <a:chExt cx="13559091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5909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559092">
                  <a:moveTo>
                    <a:pt x="0" y="0"/>
                  </a:moveTo>
                  <a:lnTo>
                    <a:pt x="13559092" y="0"/>
                  </a:lnTo>
                  <a:lnTo>
                    <a:pt x="135590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83" t="0" r="-488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741" y="776485"/>
            <a:ext cx="5221367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Salary Predictor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741" y="4063206"/>
            <a:ext cx="7557943" cy="212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Predict Salary Based on Experience Using 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467" y="6578579"/>
            <a:ext cx="9445523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presented By: vishal verma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2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34412" y="1349761"/>
            <a:ext cx="8213368" cy="4917977"/>
            <a:chOff x="0" y="0"/>
            <a:chExt cx="10951157" cy="65573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51208" cy="6557328"/>
            </a:xfrm>
            <a:custGeom>
              <a:avLst/>
              <a:gdLst/>
              <a:ahLst/>
              <a:cxnLst/>
              <a:rect r="r" b="b" t="t" l="l"/>
              <a:pathLst>
                <a:path h="6557328" w="10951208">
                  <a:moveTo>
                    <a:pt x="0" y="0"/>
                  </a:moveTo>
                  <a:lnTo>
                    <a:pt x="10951208" y="0"/>
                  </a:lnTo>
                  <a:lnTo>
                    <a:pt x="10951208" y="6557328"/>
                  </a:lnTo>
                  <a:lnTo>
                    <a:pt x="0" y="655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24" t="0" r="-252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7317" y="688924"/>
            <a:ext cx="6695923" cy="88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494" y="2544309"/>
            <a:ext cx="8578727" cy="703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264" indent="-268632" lvl="1">
              <a:lnSpc>
                <a:spcPts val="5613"/>
              </a:lnSpc>
              <a:buFont typeface="Arial"/>
              <a:buChar char="•"/>
            </a:pPr>
            <a:r>
              <a:rPr lang="en-US" sz="356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Employees often want to know expected salary based on experience, leading to uncertainty.</a:t>
            </a:r>
          </a:p>
          <a:p>
            <a:pPr algn="l" marL="537264" indent="-268632" lvl="1">
              <a:lnSpc>
                <a:spcPts val="5613"/>
              </a:lnSpc>
              <a:buFont typeface="Arial"/>
              <a:buChar char="•"/>
            </a:pPr>
            <a:r>
              <a:rPr lang="en-US" sz="356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Manual estimation processes are inconsistent, subjective, and time-consuming for all parties involved.</a:t>
            </a:r>
          </a:p>
          <a:p>
            <a:pPr algn="l" marL="537264" indent="-268632" lvl="1">
              <a:lnSpc>
                <a:spcPts val="5613"/>
              </a:lnSpc>
              <a:buFont typeface="Arial"/>
              <a:buChar char="•"/>
            </a:pPr>
            <a:r>
              <a:rPr lang="en-US" sz="356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HR departments and recruiters currently lack a fast, reliable, and data-driven tool for accurate salary prediction.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01848" y="452885"/>
            <a:ext cx="4523184" cy="61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Our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1848" y="1258491"/>
            <a:ext cx="14713491" cy="39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3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We offer a robust machine learning solution designed to streamline salary predictions.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488953" y="1474030"/>
            <a:ext cx="7301655" cy="6557067"/>
            <a:chOff x="0" y="0"/>
            <a:chExt cx="9735541" cy="874275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735566" cy="8742807"/>
            </a:xfrm>
            <a:custGeom>
              <a:avLst/>
              <a:gdLst/>
              <a:ahLst/>
              <a:cxnLst/>
              <a:rect r="r" b="b" t="t" l="l"/>
              <a:pathLst>
                <a:path h="8742807" w="9735566">
                  <a:moveTo>
                    <a:pt x="0" y="0"/>
                  </a:moveTo>
                  <a:lnTo>
                    <a:pt x="9735566" y="0"/>
                  </a:lnTo>
                  <a:lnTo>
                    <a:pt x="9735566" y="8742807"/>
                  </a:lnTo>
                  <a:lnTo>
                    <a:pt x="0" y="874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" t="0" r="-5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689673" y="2934567"/>
            <a:ext cx="2721540" cy="37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Input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42303" y="4441727"/>
            <a:ext cx="624211" cy="624211"/>
          </a:xfrm>
          <a:custGeom>
            <a:avLst/>
            <a:gdLst/>
            <a:ahLst/>
            <a:cxnLst/>
            <a:rect r="r" b="b" t="t" l="l"/>
            <a:pathLst>
              <a:path h="624211" w="624211">
                <a:moveTo>
                  <a:pt x="0" y="0"/>
                </a:moveTo>
                <a:lnTo>
                  <a:pt x="624212" y="0"/>
                </a:lnTo>
                <a:lnTo>
                  <a:pt x="624212" y="624211"/>
                </a:lnTo>
                <a:lnTo>
                  <a:pt x="0" y="624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76" r="0" b="-757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16844" y="6543456"/>
            <a:ext cx="2635910" cy="37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ML Model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8515579" y="4822298"/>
            <a:ext cx="624202" cy="624211"/>
          </a:xfrm>
          <a:custGeom>
            <a:avLst/>
            <a:gdLst/>
            <a:ahLst/>
            <a:cxnLst/>
            <a:rect r="r" b="b" t="t" l="l"/>
            <a:pathLst>
              <a:path h="624211" w="624202">
                <a:moveTo>
                  <a:pt x="0" y="0"/>
                </a:moveTo>
                <a:lnTo>
                  <a:pt x="624201" y="0"/>
                </a:lnTo>
                <a:lnTo>
                  <a:pt x="624201" y="624211"/>
                </a:lnTo>
                <a:lnTo>
                  <a:pt x="0" y="624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787" r="0" b="-378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56451" y="3669373"/>
            <a:ext cx="2635910" cy="37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Output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615641" y="5230959"/>
            <a:ext cx="624202" cy="624211"/>
          </a:xfrm>
          <a:custGeom>
            <a:avLst/>
            <a:gdLst/>
            <a:ahLst/>
            <a:cxnLst/>
            <a:rect r="r" b="b" t="t" l="l"/>
            <a:pathLst>
              <a:path h="624211" w="624202">
                <a:moveTo>
                  <a:pt x="0" y="0"/>
                </a:moveTo>
                <a:lnTo>
                  <a:pt x="624202" y="0"/>
                </a:lnTo>
                <a:lnTo>
                  <a:pt x="624202" y="624211"/>
                </a:lnTo>
                <a:lnTo>
                  <a:pt x="0" y="624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0756" r="0" b="-5075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7266051"/>
            <a:ext cx="17173575" cy="85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5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This model provides quick, accurate, and consistent salary estimates, empowering HR, recruiters, and job seekers with reliable information.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3917" y="8191948"/>
            <a:ext cx="16942680" cy="171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338" indent="-194169" lvl="1">
              <a:lnSpc>
                <a:spcPts val="3394"/>
              </a:lnSpc>
              <a:buFont typeface="Arial"/>
              <a:buChar char="•"/>
            </a:pPr>
            <a:r>
              <a:rPr lang="en-US" sz="25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 machine learning model predicts salary using years of experience as its primary input.</a:t>
            </a:r>
          </a:p>
          <a:p>
            <a:pPr algn="l" marL="388338" indent="-194169" lvl="1">
              <a:lnSpc>
                <a:spcPts val="3394"/>
              </a:lnSpc>
              <a:buFont typeface="Arial"/>
              <a:buChar char="•"/>
            </a:pPr>
            <a:r>
              <a:rPr lang="en-US" sz="25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Output: Predicted salary in ₹ for any given experience level.</a:t>
            </a:r>
          </a:p>
          <a:p>
            <a:pPr algn="l" marL="388338" indent="-194169" lvl="1">
              <a:lnSpc>
                <a:spcPts val="3394"/>
              </a:lnSpc>
              <a:buFont typeface="Arial"/>
              <a:buChar char="•"/>
            </a:pPr>
            <a:r>
              <a:rPr lang="en-US" sz="25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Provides quick, accurate, and consistent salary estimates.</a:t>
            </a:r>
          </a:p>
          <a:p>
            <a:pPr algn="l" marL="388338" indent="-194169" lvl="1">
              <a:lnSpc>
                <a:spcPts val="3394"/>
              </a:lnSpc>
              <a:buFont typeface="Arial"/>
              <a:buChar char="•"/>
            </a:pPr>
            <a:r>
              <a:rPr lang="en-US" sz="25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Supports HR, recruiters, and job seekers in making informed decisions for compensation and career planning.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44022" y="4619623"/>
            <a:ext cx="11366612" cy="5502021"/>
            <a:chOff x="0" y="0"/>
            <a:chExt cx="15155482" cy="7336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55495" cy="7335980"/>
            </a:xfrm>
            <a:custGeom>
              <a:avLst/>
              <a:gdLst/>
              <a:ahLst/>
              <a:cxnLst/>
              <a:rect r="r" b="b" t="t" l="l"/>
              <a:pathLst>
                <a:path h="7335980" w="15155495">
                  <a:moveTo>
                    <a:pt x="0" y="0"/>
                  </a:moveTo>
                  <a:lnTo>
                    <a:pt x="15155495" y="0"/>
                  </a:lnTo>
                  <a:lnTo>
                    <a:pt x="15155495" y="7335980"/>
                  </a:lnTo>
                  <a:lnTo>
                    <a:pt x="0" y="733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127" t="0" r="-812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4619623"/>
            <a:ext cx="3216572" cy="5108984"/>
          </a:xfrm>
          <a:custGeom>
            <a:avLst/>
            <a:gdLst/>
            <a:ahLst/>
            <a:cxnLst/>
            <a:rect r="r" b="b" t="t" l="l"/>
            <a:pathLst>
              <a:path h="5108984" w="3216572">
                <a:moveTo>
                  <a:pt x="0" y="0"/>
                </a:moveTo>
                <a:lnTo>
                  <a:pt x="3216572" y="0"/>
                </a:lnTo>
                <a:lnTo>
                  <a:pt x="3216572" y="5108985"/>
                </a:lnTo>
                <a:lnTo>
                  <a:pt x="0" y="5108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76" r="-4253" b="-267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1461" y="2147295"/>
            <a:ext cx="13845686" cy="148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096" indent="-171548" lvl="1">
              <a:lnSpc>
                <a:spcPts val="2998"/>
              </a:lnSpc>
              <a:buFont typeface="Arial"/>
              <a:buChar char="•"/>
            </a:pPr>
            <a:r>
              <a:rPr lang="en-US" sz="22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The dataset comprises two crucial columns: </a:t>
            </a:r>
            <a:r>
              <a:rPr lang="en-US" b="true" sz="2274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Experience</a:t>
            </a:r>
            <a:r>
              <a:rPr lang="en-US" sz="22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(in years) and </a:t>
            </a:r>
            <a:r>
              <a:rPr lang="en-US" b="true" sz="2274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Salary (₹)</a:t>
            </a:r>
            <a:r>
              <a:rPr lang="en-US" sz="22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 marL="343096" indent="-171548" lvl="1">
              <a:lnSpc>
                <a:spcPts val="2998"/>
              </a:lnSpc>
              <a:buFont typeface="Arial"/>
              <a:buChar char="•"/>
            </a:pPr>
            <a:r>
              <a:rPr lang="en-US" b="true" sz="2274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Experience</a:t>
            </a:r>
            <a:r>
              <a:rPr lang="en-US" sz="22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precisely represents the number of years of professional work in a given field.</a:t>
            </a:r>
          </a:p>
          <a:p>
            <a:pPr algn="l" marL="343096" indent="-171548" lvl="1">
              <a:lnSpc>
                <a:spcPts val="2998"/>
              </a:lnSpc>
              <a:buFont typeface="Arial"/>
              <a:buChar char="•"/>
            </a:pPr>
            <a:r>
              <a:rPr lang="en-US" b="true" sz="2274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Salary</a:t>
            </a:r>
            <a:r>
              <a:rPr lang="en-US" sz="22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indicates the corresponding compensation for each specific experience level.</a:t>
            </a:r>
          </a:p>
          <a:p>
            <a:pPr algn="l" marL="343096" indent="-171548" lvl="1">
              <a:lnSpc>
                <a:spcPts val="2998"/>
              </a:lnSpc>
              <a:buFont typeface="Arial"/>
              <a:buChar char="•"/>
            </a:pPr>
            <a:r>
              <a:rPr lang="en-US" sz="22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The dataset underwent thorough cleaning and preparation, ensuring optimal quality for model training.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0670" y="599037"/>
            <a:ext cx="3908227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899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245" y="1316545"/>
            <a:ext cx="12277134" cy="32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1"/>
              </a:lnSpc>
            </a:pPr>
            <a:r>
              <a:rPr lang="en-US" sz="1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Our model is trained on a meticulously curated dataset to ensure predictive accuracy.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7877" y="1331566"/>
            <a:ext cx="7023049" cy="79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Tech Stack &amp; Target Users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3446" y="2437057"/>
            <a:ext cx="8349558" cy="6480124"/>
            <a:chOff x="0" y="0"/>
            <a:chExt cx="11132744" cy="8640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32820" cy="8640191"/>
            </a:xfrm>
            <a:custGeom>
              <a:avLst/>
              <a:gdLst/>
              <a:ahLst/>
              <a:cxnLst/>
              <a:rect r="r" b="b" t="t" l="l"/>
              <a:pathLst>
                <a:path h="8640191" w="11132820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11084306" y="0"/>
                  </a:lnTo>
                  <a:cubicBezTo>
                    <a:pt x="11111103" y="0"/>
                    <a:pt x="11132820" y="21717"/>
                    <a:pt x="11132820" y="48514"/>
                  </a:cubicBezTo>
                  <a:lnTo>
                    <a:pt x="11132820" y="8591677"/>
                  </a:lnTo>
                  <a:cubicBezTo>
                    <a:pt x="11132820" y="8618474"/>
                    <a:pt x="11111103" y="8640191"/>
                    <a:pt x="11084306" y="8640191"/>
                  </a:cubicBezTo>
                  <a:lnTo>
                    <a:pt x="48514" y="8640191"/>
                  </a:lnTo>
                  <a:cubicBezTo>
                    <a:pt x="21717" y="8640191"/>
                    <a:pt x="0" y="8618474"/>
                    <a:pt x="0" y="8591677"/>
                  </a:cubicBez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5591" y="2605830"/>
            <a:ext cx="3633788" cy="4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 Stack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15591" y="3330921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862" r="0" b="-686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58693" y="3395072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8693" y="3913737"/>
            <a:ext cx="7122166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Core language for computational tasks and scripting.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15591" y="4772768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60" t="0" r="-196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8693" y="4836909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Pandas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8693" y="5355584"/>
            <a:ext cx="7122166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Essential for efficient data manipulation and analysis.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15591" y="6214615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81" r="0" b="-98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58693" y="6278766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Scikit-learn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8693" y="6797431"/>
            <a:ext cx="7122166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Library for machine learning model training and evaluation.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15591" y="7656462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8431" r="0" b="-2843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58693" y="7720603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Matplotlib/Seaborn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8693" y="8239277"/>
            <a:ext cx="7122166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Used for comprehensive data visualization and plotting.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8952" y="2605830"/>
            <a:ext cx="3633788" cy="4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Target Users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448952" y="3330921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941" r="0" b="-2941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192045" y="3395072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HR Professionals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2045" y="3913737"/>
            <a:ext cx="7257602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For data-driven salary analysis and compensation benchmarking.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448952" y="4772768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981" r="0" b="-981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192045" y="4836909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Recruiters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92045" y="5355584"/>
            <a:ext cx="7257602" cy="8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To streamline recruitment, set expectations, and plan compensation strategies effectively.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9448952" y="6574041"/>
            <a:ext cx="484432" cy="484432"/>
          </a:xfrm>
          <a:custGeom>
            <a:avLst/>
            <a:gdLst/>
            <a:ahLst/>
            <a:cxnLst/>
            <a:rect r="r" b="b" t="t" l="l"/>
            <a:pathLst>
              <a:path h="484432" w="484432">
                <a:moveTo>
                  <a:pt x="0" y="0"/>
                </a:moveTo>
                <a:lnTo>
                  <a:pt x="484432" y="0"/>
                </a:lnTo>
                <a:lnTo>
                  <a:pt x="484432" y="484432"/>
                </a:lnTo>
                <a:lnTo>
                  <a:pt x="0" y="4844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960" t="0" r="-1962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192045" y="6638182"/>
            <a:ext cx="3028207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Job Seekers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92045" y="7156847"/>
            <a:ext cx="7257602" cy="80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To understand expected compensation, negotiate confidently, and make informed career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73541" y="514645"/>
            <a:ext cx="4761157" cy="64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712646" y="1413119"/>
            <a:ext cx="8862717" cy="6661547"/>
            <a:chOff x="0" y="0"/>
            <a:chExt cx="11816956" cy="88820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816969" cy="8882126"/>
            </a:xfrm>
            <a:custGeom>
              <a:avLst/>
              <a:gdLst/>
              <a:ahLst/>
              <a:cxnLst/>
              <a:rect r="r" b="b" t="t" l="l"/>
              <a:pathLst>
                <a:path h="8882126" w="11816969">
                  <a:moveTo>
                    <a:pt x="0" y="0"/>
                  </a:moveTo>
                  <a:lnTo>
                    <a:pt x="11816969" y="0"/>
                  </a:lnTo>
                  <a:lnTo>
                    <a:pt x="11816969" y="8882126"/>
                  </a:lnTo>
                  <a:lnTo>
                    <a:pt x="0" y="88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332251" y="4391730"/>
            <a:ext cx="1616307" cy="11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Salary Prediction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50144" y="6149302"/>
            <a:ext cx="2404539" cy="76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ML Model Prediction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50144" y="7022163"/>
            <a:ext cx="2404539" cy="4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81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Model processes input to predict salary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12782" y="6149302"/>
            <a:ext cx="2404539" cy="76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Output: Predicted Salary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12782" y="7022163"/>
            <a:ext cx="2404539" cy="4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81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Estimated salary presented to user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98606" y="1780013"/>
            <a:ext cx="2470252" cy="76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Input: Years of Experience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98606" y="2652884"/>
            <a:ext cx="2470252" cy="4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812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User enters experience in years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3541" y="8161287"/>
            <a:ext cx="13140928" cy="6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17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This streamlined workflow ensures automated and accurate salary predictions based solely on experience data, providing a seamless and efficient process for all users.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73541" y="8814349"/>
            <a:ext cx="15067120" cy="122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521" indent="-176261" lvl="1">
              <a:lnSpc>
                <a:spcPts val="3252"/>
              </a:lnSpc>
              <a:buFont typeface="Arial"/>
              <a:buChar char="•"/>
            </a:pPr>
            <a:r>
              <a:rPr lang="en-US" b="true" sz="2337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Input (Years of Experience):</a:t>
            </a:r>
            <a:r>
              <a:rPr lang="en-US" sz="23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Users provide their professional experience in years.</a:t>
            </a:r>
          </a:p>
          <a:p>
            <a:pPr algn="l" marL="352521" indent="-176261" lvl="1">
              <a:lnSpc>
                <a:spcPts val="3252"/>
              </a:lnSpc>
              <a:buFont typeface="Arial"/>
              <a:buChar char="•"/>
            </a:pPr>
            <a:r>
              <a:rPr lang="en-US" b="true" sz="2337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ML Model Prediction:</a:t>
            </a:r>
            <a:r>
              <a:rPr lang="en-US" sz="23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Our trained machine learning model processes the input data.</a:t>
            </a:r>
          </a:p>
          <a:p>
            <a:pPr algn="l" marL="352521" indent="-176261" lvl="1">
              <a:lnSpc>
                <a:spcPts val="3252"/>
              </a:lnSpc>
              <a:buFont typeface="Arial"/>
              <a:buChar char="•"/>
            </a:pPr>
            <a:r>
              <a:rPr lang="en-US" b="true" sz="2337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Output (Predicted Salary):</a:t>
            </a:r>
            <a:r>
              <a:rPr lang="en-US" sz="23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The model generates an estimated salary in Indian Rupees (₹).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DAHCcm7Ct9s</dc:identifier>
  <dcterms:modified xsi:type="dcterms:W3CDTF">2011-08-01T06:04:30Z</dcterms:modified>
  <cp:revision>1</cp:revision>
  <dc:title>1️⃣ Title Slide 🏠 Lonavala House Price Predictor A Data-Driven Real Estate Valuation System In today’s rapidly growing real estate market, pricing accuracy plays a crucial role in decision-making. This project presents a machine learning-based system</dc:title>
</cp:coreProperties>
</file>