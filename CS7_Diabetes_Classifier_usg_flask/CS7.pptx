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Poppins Bold" charset="1" panose="00000800000000000000"/>
      <p:regular r:id="rId10"/>
    </p:embeddedFont>
    <p:embeddedFont>
      <p:font typeface="Poppins Light" charset="1" panose="000004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77" r="0" b="-6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843504"/>
            <a:ext cx="78848" cy="697441"/>
            <a:chOff x="0" y="0"/>
            <a:chExt cx="18448" cy="1631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448" cy="163182"/>
            </a:xfrm>
            <a:custGeom>
              <a:avLst/>
              <a:gdLst/>
              <a:ahLst/>
              <a:cxnLst/>
              <a:rect r="r" b="b" t="t" l="l"/>
              <a:pathLst>
                <a:path h="163182" w="18448">
                  <a:moveTo>
                    <a:pt x="0" y="0"/>
                  </a:moveTo>
                  <a:lnTo>
                    <a:pt x="18448" y="0"/>
                  </a:lnTo>
                  <a:lnTo>
                    <a:pt x="18448" y="163182"/>
                  </a:lnTo>
                  <a:lnTo>
                    <a:pt x="0" y="163182"/>
                  </a:lnTo>
                  <a:close/>
                </a:path>
              </a:pathLst>
            </a:custGeom>
            <a:solidFill>
              <a:srgbClr val="AD2D3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8448" cy="163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7095" y="9583341"/>
            <a:ext cx="2743840" cy="399626"/>
            <a:chOff x="0" y="0"/>
            <a:chExt cx="641983" cy="935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1983" cy="93501"/>
            </a:xfrm>
            <a:custGeom>
              <a:avLst/>
              <a:gdLst/>
              <a:ahLst/>
              <a:cxnLst/>
              <a:rect r="r" b="b" t="t" l="l"/>
              <a:pathLst>
                <a:path h="93501" w="641983">
                  <a:moveTo>
                    <a:pt x="0" y="0"/>
                  </a:moveTo>
                  <a:lnTo>
                    <a:pt x="641983" y="0"/>
                  </a:lnTo>
                  <a:lnTo>
                    <a:pt x="641983" y="93501"/>
                  </a:lnTo>
                  <a:lnTo>
                    <a:pt x="0" y="93501"/>
                  </a:lnTo>
                  <a:close/>
                </a:path>
              </a:pathLst>
            </a:custGeom>
            <a:solidFill>
              <a:srgbClr val="AD2D3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641983" cy="93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879934"/>
            <a:ext cx="7803385" cy="184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2"/>
              </a:lnSpc>
            </a:pPr>
            <a:r>
              <a:rPr lang="en-US" b="true" sz="14003" spc="-98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</a:t>
            </a:r>
            <a:r>
              <a:rPr lang="en-US" b="true" sz="14003" spc="-98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ABETES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32085" y="879934"/>
            <a:ext cx="8932602" cy="184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2"/>
              </a:lnSpc>
            </a:pPr>
            <a:r>
              <a:rPr lang="en-US" sz="14003" spc="-98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CLASSIF</a:t>
            </a:r>
            <a:r>
              <a:rPr lang="en-US" sz="14003" spc="-98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IER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3306" y="3799801"/>
            <a:ext cx="3776403" cy="78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2701" spc="-10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UND</a:t>
            </a:r>
            <a:r>
              <a:rPr lang="en-US" sz="2701" spc="-10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ERSTANDING GLUCOSE IN THE BODY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7095" y="9669489"/>
            <a:ext cx="2775009" cy="21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400" spc="-4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PRESENTED BY:VISHAL VERMA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97690" y="3098067"/>
            <a:ext cx="7803385" cy="14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3"/>
              </a:lnSpc>
            </a:pPr>
            <a:r>
              <a:rPr lang="en-US" b="true" sz="11004" spc="-77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</a:t>
            </a:r>
            <a:r>
              <a:rPr lang="en-US" b="true" sz="11004" spc="-77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5313" y="403600"/>
            <a:ext cx="9707439" cy="74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5663" spc="-3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687452"/>
            <a:ext cx="8170626" cy="471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Diabetes is a common health problem and early detection is important.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Many people do not know whether they are at risk, and manual assessment is slow and error-prone.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system predicts Diab</a:t>
            </a: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etes risk based on features like age, BMI, fasting sugar, HbA1c, gender, hypertension, and family history.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It provides a fast and accurate prediction using machine learning.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project solves the problem by predicting diabetes risk using Logistic Regression.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</a:p>
          <a:p>
            <a:pPr algn="l">
              <a:lnSpc>
                <a:spcPts val="285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4484722" y="-1577711"/>
            <a:ext cx="78848" cy="7292959"/>
            <a:chOff x="0" y="0"/>
            <a:chExt cx="18448" cy="17063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448" cy="1706352"/>
            </a:xfrm>
            <a:custGeom>
              <a:avLst/>
              <a:gdLst/>
              <a:ahLst/>
              <a:cxnLst/>
              <a:rect r="r" b="b" t="t" l="l"/>
              <a:pathLst>
                <a:path h="1706352" w="18448">
                  <a:moveTo>
                    <a:pt x="0" y="0"/>
                  </a:moveTo>
                  <a:lnTo>
                    <a:pt x="18448" y="0"/>
                  </a:lnTo>
                  <a:lnTo>
                    <a:pt x="18448" y="1706352"/>
                  </a:lnTo>
                  <a:lnTo>
                    <a:pt x="0" y="1706352"/>
                  </a:lnTo>
                  <a:close/>
                </a:path>
              </a:pathLst>
            </a:custGeom>
            <a:solidFill>
              <a:srgbClr val="AD2D3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8448" cy="1706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170626" y="2029345"/>
            <a:ext cx="9088674" cy="4394769"/>
            <a:chOff x="0" y="0"/>
            <a:chExt cx="1408074" cy="680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08074" cy="680865"/>
            </a:xfrm>
            <a:custGeom>
              <a:avLst/>
              <a:gdLst/>
              <a:ahLst/>
              <a:cxnLst/>
              <a:rect r="r" b="b" t="t" l="l"/>
              <a:pathLst>
                <a:path h="680865" w="1408074">
                  <a:moveTo>
                    <a:pt x="0" y="0"/>
                  </a:moveTo>
                  <a:lnTo>
                    <a:pt x="1408074" y="0"/>
                  </a:lnTo>
                  <a:lnTo>
                    <a:pt x="1408074" y="680865"/>
                  </a:lnTo>
                  <a:lnTo>
                    <a:pt x="0" y="680865"/>
                  </a:lnTo>
                  <a:close/>
                </a:path>
              </a:pathLst>
            </a:custGeom>
            <a:blipFill>
              <a:blip r:embed="rId2"/>
              <a:stretch>
                <a:fillRect l="0" t="-29362" r="0" b="-2936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677075" y="533145"/>
            <a:ext cx="78848" cy="2714746"/>
            <a:chOff x="0" y="0"/>
            <a:chExt cx="18448" cy="6351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48" cy="635176"/>
            </a:xfrm>
            <a:custGeom>
              <a:avLst/>
              <a:gdLst/>
              <a:ahLst/>
              <a:cxnLst/>
              <a:rect r="r" b="b" t="t" l="l"/>
              <a:pathLst>
                <a:path h="635176" w="18448">
                  <a:moveTo>
                    <a:pt x="0" y="0"/>
                  </a:moveTo>
                  <a:lnTo>
                    <a:pt x="18448" y="0"/>
                  </a:lnTo>
                  <a:lnTo>
                    <a:pt x="18448" y="635176"/>
                  </a:lnTo>
                  <a:lnTo>
                    <a:pt x="0" y="635176"/>
                  </a:lnTo>
                  <a:close/>
                </a:path>
              </a:pathLst>
            </a:custGeom>
            <a:solidFill>
              <a:srgbClr val="AD2D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8448" cy="635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677075" y="4755716"/>
            <a:ext cx="78848" cy="2714746"/>
            <a:chOff x="0" y="0"/>
            <a:chExt cx="18448" cy="635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48" cy="635176"/>
            </a:xfrm>
            <a:custGeom>
              <a:avLst/>
              <a:gdLst/>
              <a:ahLst/>
              <a:cxnLst/>
              <a:rect r="r" b="b" t="t" l="l"/>
              <a:pathLst>
                <a:path h="635176" w="18448">
                  <a:moveTo>
                    <a:pt x="0" y="0"/>
                  </a:moveTo>
                  <a:lnTo>
                    <a:pt x="18448" y="0"/>
                  </a:lnTo>
                  <a:lnTo>
                    <a:pt x="18448" y="635176"/>
                  </a:lnTo>
                  <a:lnTo>
                    <a:pt x="0" y="635176"/>
                  </a:lnTo>
                  <a:close/>
                </a:path>
              </a:pathLst>
            </a:custGeom>
            <a:solidFill>
              <a:srgbClr val="AD2D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448" cy="635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79099" y="7550995"/>
            <a:ext cx="7739032" cy="2455392"/>
          </a:xfrm>
          <a:custGeom>
            <a:avLst/>
            <a:gdLst/>
            <a:ahLst/>
            <a:cxnLst/>
            <a:rect r="r" b="b" t="t" l="l"/>
            <a:pathLst>
              <a:path h="2455392" w="7739032">
                <a:moveTo>
                  <a:pt x="0" y="0"/>
                </a:moveTo>
                <a:lnTo>
                  <a:pt x="7739032" y="0"/>
                </a:lnTo>
                <a:lnTo>
                  <a:pt x="7739032" y="2455393"/>
                </a:lnTo>
                <a:lnTo>
                  <a:pt x="0" y="245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79099" y="477100"/>
            <a:ext cx="7657437" cy="6920850"/>
          </a:xfrm>
          <a:custGeom>
            <a:avLst/>
            <a:gdLst/>
            <a:ahLst/>
            <a:cxnLst/>
            <a:rect r="r" b="b" t="t" l="l"/>
            <a:pathLst>
              <a:path h="6920850" w="7657437">
                <a:moveTo>
                  <a:pt x="0" y="0"/>
                </a:moveTo>
                <a:lnTo>
                  <a:pt x="7657437" y="0"/>
                </a:lnTo>
                <a:lnTo>
                  <a:pt x="7657437" y="6920850"/>
                </a:lnTo>
                <a:lnTo>
                  <a:pt x="0" y="6920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62025" y="1002386"/>
            <a:ext cx="8348981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b="true" sz="4209" spc="-29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DATASET &amp;  PREPROCESSING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7454" y="2193815"/>
            <a:ext cx="9651645" cy="357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dataset contains patient data to predict diabetes risk.</a:t>
            </a:r>
          </a:p>
          <a:p>
            <a:pPr algn="l">
              <a:lnSpc>
                <a:spcPts val="2599"/>
              </a:lnSpc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Features included:</a:t>
            </a:r>
          </a:p>
          <a:p>
            <a:pPr algn="l" marL="431797" indent="-215899" lvl="1">
              <a:lnSpc>
                <a:spcPts val="25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Age – Patient’s age</a:t>
            </a:r>
          </a:p>
          <a:p>
            <a:pPr algn="l" marL="431797" indent="-215899" lvl="1">
              <a:lnSpc>
                <a:spcPts val="25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BMI – Body Mass Index</a:t>
            </a:r>
          </a:p>
          <a:p>
            <a:pPr algn="l" marL="431797" indent="-215899" lvl="1">
              <a:lnSpc>
                <a:spcPts val="25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Fasting Sugar – Blood sugar level after fasting</a:t>
            </a:r>
          </a:p>
          <a:p>
            <a:pPr algn="l" marL="431797" indent="-215899" lvl="1">
              <a:lnSpc>
                <a:spcPts val="25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HbA1c – Average blood sugar level over 3 months</a:t>
            </a:r>
          </a:p>
          <a:p>
            <a:pPr algn="l" marL="431797" indent="-215899" lvl="1">
              <a:lnSpc>
                <a:spcPts val="25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Gender – Male or Female</a:t>
            </a:r>
          </a:p>
          <a:p>
            <a:pPr algn="l" marL="431797" indent="-215899" lvl="1">
              <a:lnSpc>
                <a:spcPts val="25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Hypertensio</a:t>
            </a: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 – Yes/No</a:t>
            </a:r>
          </a:p>
          <a:p>
            <a:pPr algn="l" marL="431797" indent="-215899" lvl="1">
              <a:lnSpc>
                <a:spcPts val="25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Family History – Yes/No</a:t>
            </a:r>
          </a:p>
          <a:p>
            <a:pPr algn="l" marL="431797" indent="-215899" lvl="1">
              <a:lnSpc>
                <a:spcPts val="2599"/>
              </a:lnSpc>
              <a:buFont typeface="Arial"/>
              <a:buChar char="•"/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Diabetes – Target variable (Yes/No)</a:t>
            </a:r>
          </a:p>
          <a:p>
            <a:pPr algn="l">
              <a:lnSpc>
                <a:spcPts val="25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27454" y="6419213"/>
            <a:ext cx="9471359" cy="292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Exploration &amp; Preprocessing:</a:t>
            </a:r>
          </a:p>
          <a:p>
            <a:pPr algn="l" marL="431797" indent="-215899" lvl="1">
              <a:lnSpc>
                <a:spcPts val="2599"/>
              </a:lnSpc>
              <a:buAutoNum type="arabicPeriod" startAt="1"/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Checked skewness of Fasting Sugar and HbA1c to understand data distribution.</a:t>
            </a:r>
          </a:p>
          <a:p>
            <a:pPr algn="l" marL="431797" indent="-215899" lvl="1">
              <a:lnSpc>
                <a:spcPts val="2599"/>
              </a:lnSpc>
              <a:buAutoNum type="arabicPeriod" startAt="1"/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Checked for missing values and filled Fasting Sugar &amp; HbA1c with mean.</a:t>
            </a:r>
          </a:p>
          <a:p>
            <a:pPr algn="l" marL="431797" indent="-215899" lvl="1">
              <a:lnSpc>
                <a:spcPts val="2599"/>
              </a:lnSpc>
              <a:buAutoNum type="arabicPeriod" startAt="1"/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Encoded categorical features (Gender, Hypertension, Family History) using OneHotEncoder.</a:t>
            </a:r>
          </a:p>
          <a:p>
            <a:pPr algn="l" marL="431797" indent="-215899" lvl="1">
              <a:lnSpc>
                <a:spcPts val="2599"/>
              </a:lnSpc>
              <a:buAutoNum type="arabicPeriod" startAt="1"/>
            </a:pPr>
            <a:r>
              <a:rPr lang="en-US" sz="1999" spc="-3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Combined numerical and encoded categorical features to create the final dataset for model training.</a:t>
            </a:r>
          </a:p>
          <a:p>
            <a:pPr algn="l">
              <a:lnSpc>
                <a:spcPts val="25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0142" y="808982"/>
            <a:ext cx="10701649" cy="51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b="true" sz="3903" spc="-27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 &amp; TARGET USER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6244" y="3204328"/>
            <a:ext cx="8791155" cy="254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Python – Main programming language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Pandas – Data handling and preprocessing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Scikit-learn – Logistic Regression and model evaluation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OneHotEncoder – Categorical data encoding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Flask – Web interface for user input and prediction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Pickle – Save tra</a:t>
            </a: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ined model for deployment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06244" y="2144245"/>
            <a:ext cx="4733129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</a:t>
            </a:r>
            <a:r>
              <a:rPr lang="en-US" b="true" sz="1999" spc="-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6244" y="6972327"/>
            <a:ext cx="11652063" cy="254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system is designed for: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Patients / General Public – To quickly check their diabetes risk.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Doctors &amp; Healthcare Professionals – To assist in early detection and patient monitoring.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Researchers &amp; Students – To study how different health features affect diabetes risk.</a:t>
            </a:r>
          </a:p>
          <a:p>
            <a:pPr algn="l" marL="474976" indent="-237488" lvl="1">
              <a:lnSpc>
                <a:spcPts val="285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Healthcare Organizations – To help </a:t>
            </a:r>
            <a:r>
              <a:rPr lang="en-US" sz="2199" spc="-4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 screening programs and preventive care.</a:t>
            </a:r>
          </a:p>
          <a:p>
            <a:pPr algn="l">
              <a:lnSpc>
                <a:spcPts val="28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06244" y="6233914"/>
            <a:ext cx="4733129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999" spc="-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TARG</a:t>
            </a:r>
            <a:r>
              <a:rPr lang="en-US" b="true" sz="1999" spc="-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ET USERS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2591719" y="324540"/>
            <a:ext cx="47625" cy="4733129"/>
            <a:chOff x="0" y="0"/>
            <a:chExt cx="11143" cy="11074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43" cy="1107422"/>
            </a:xfrm>
            <a:custGeom>
              <a:avLst/>
              <a:gdLst/>
              <a:ahLst/>
              <a:cxnLst/>
              <a:rect r="r" b="b" t="t" l="l"/>
              <a:pathLst>
                <a:path h="1107422" w="11143">
                  <a:moveTo>
                    <a:pt x="0" y="0"/>
                  </a:moveTo>
                  <a:lnTo>
                    <a:pt x="11143" y="0"/>
                  </a:lnTo>
                  <a:lnTo>
                    <a:pt x="11143" y="1107422"/>
                  </a:lnTo>
                  <a:lnTo>
                    <a:pt x="0" y="1107422"/>
                  </a:lnTo>
                  <a:close/>
                </a:path>
              </a:pathLst>
            </a:custGeom>
            <a:solidFill>
              <a:srgbClr val="AD2D3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1143" cy="1107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2591719" y="4401702"/>
            <a:ext cx="47625" cy="4733129"/>
            <a:chOff x="0" y="0"/>
            <a:chExt cx="11143" cy="11074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43" cy="1107422"/>
            </a:xfrm>
            <a:custGeom>
              <a:avLst/>
              <a:gdLst/>
              <a:ahLst/>
              <a:cxnLst/>
              <a:rect r="r" b="b" t="t" l="l"/>
              <a:pathLst>
                <a:path h="1107422" w="11143">
                  <a:moveTo>
                    <a:pt x="0" y="0"/>
                  </a:moveTo>
                  <a:lnTo>
                    <a:pt x="11143" y="0"/>
                  </a:lnTo>
                  <a:lnTo>
                    <a:pt x="11143" y="1107422"/>
                  </a:lnTo>
                  <a:lnTo>
                    <a:pt x="0" y="1107422"/>
                  </a:lnTo>
                  <a:close/>
                </a:path>
              </a:pathLst>
            </a:custGeom>
            <a:solidFill>
              <a:srgbClr val="AD2D3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143" cy="1107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11791" y="3096470"/>
            <a:ext cx="4747509" cy="3913956"/>
            <a:chOff x="0" y="0"/>
            <a:chExt cx="735513" cy="6063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5513" cy="606374"/>
            </a:xfrm>
            <a:custGeom>
              <a:avLst/>
              <a:gdLst/>
              <a:ahLst/>
              <a:cxnLst/>
              <a:rect r="r" b="b" t="t" l="l"/>
              <a:pathLst>
                <a:path h="606374" w="735513">
                  <a:moveTo>
                    <a:pt x="0" y="0"/>
                  </a:moveTo>
                  <a:lnTo>
                    <a:pt x="735513" y="0"/>
                  </a:lnTo>
                  <a:lnTo>
                    <a:pt x="735513" y="606374"/>
                  </a:lnTo>
                  <a:lnTo>
                    <a:pt x="0" y="606374"/>
                  </a:lnTo>
                  <a:close/>
                </a:path>
              </a:pathLst>
            </a:custGeom>
            <a:blipFill>
              <a:blip r:embed="rId2"/>
              <a:stretch>
                <a:fillRect l="-86531" t="0" r="-97039" b="-3404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511791" y="2992179"/>
            <a:ext cx="4747509" cy="4018247"/>
            <a:chOff x="0" y="0"/>
            <a:chExt cx="1293223" cy="10945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93223" cy="1094572"/>
            </a:xfrm>
            <a:custGeom>
              <a:avLst/>
              <a:gdLst/>
              <a:ahLst/>
              <a:cxnLst/>
              <a:rect r="r" b="b" t="t" l="l"/>
              <a:pathLst>
                <a:path h="1094572" w="1293223">
                  <a:moveTo>
                    <a:pt x="0" y="0"/>
                  </a:moveTo>
                  <a:lnTo>
                    <a:pt x="1293223" y="0"/>
                  </a:lnTo>
                  <a:lnTo>
                    <a:pt x="1293223" y="1094572"/>
                  </a:lnTo>
                  <a:lnTo>
                    <a:pt x="0" y="1094572"/>
                  </a:lnTo>
                  <a:close/>
                </a:path>
              </a:pathLst>
            </a:custGeom>
            <a:blipFill>
              <a:blip r:embed="rId3"/>
              <a:stretch>
                <a:fillRect l="0" t="-38666" r="0" b="-3866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DAHDGgXATqw</dc:identifier>
  <dcterms:modified xsi:type="dcterms:W3CDTF">2011-08-01T06:04:30Z</dcterms:modified>
  <cp:revision>1</cp:revision>
  <dc:title>Diabetes</dc:title>
</cp:coreProperties>
</file>