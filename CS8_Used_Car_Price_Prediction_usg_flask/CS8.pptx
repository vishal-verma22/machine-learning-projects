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Open Sans" panose="020F0502020204030204" pitchFamily="34" charset="0"/>
      <p:regular r:id="rId6"/>
    </p:embeddedFont>
    <p:embeddedFont>
      <p:font typeface="Poppins" panose="00000500000000000000" pitchFamily="2" charset="0"/>
      <p:regular r:id="rId7"/>
    </p:embeddedFont>
    <p:embeddedFont>
      <p:font typeface="Poppi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53196" y="647484"/>
            <a:ext cx="10252010" cy="929371"/>
            <a:chOff x="0" y="0"/>
            <a:chExt cx="2700118" cy="244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0118" cy="244773"/>
            </a:xfrm>
            <a:custGeom>
              <a:avLst/>
              <a:gdLst/>
              <a:ahLst/>
              <a:cxnLst/>
              <a:rect l="l" t="t" r="r" b="b"/>
              <a:pathLst>
                <a:path w="2700118" h="244773">
                  <a:moveTo>
                    <a:pt x="27186" y="0"/>
                  </a:moveTo>
                  <a:lnTo>
                    <a:pt x="2672932" y="0"/>
                  </a:lnTo>
                  <a:cubicBezTo>
                    <a:pt x="2680142" y="0"/>
                    <a:pt x="2687057" y="2864"/>
                    <a:pt x="2692155" y="7963"/>
                  </a:cubicBezTo>
                  <a:cubicBezTo>
                    <a:pt x="2697254" y="13061"/>
                    <a:pt x="2700118" y="19976"/>
                    <a:pt x="2700118" y="27186"/>
                  </a:cubicBezTo>
                  <a:lnTo>
                    <a:pt x="2700118" y="217587"/>
                  </a:lnTo>
                  <a:cubicBezTo>
                    <a:pt x="2700118" y="224797"/>
                    <a:pt x="2697254" y="231712"/>
                    <a:pt x="2692155" y="236810"/>
                  </a:cubicBezTo>
                  <a:cubicBezTo>
                    <a:pt x="2687057" y="241908"/>
                    <a:pt x="2680142" y="244773"/>
                    <a:pt x="2672932" y="244773"/>
                  </a:cubicBezTo>
                  <a:lnTo>
                    <a:pt x="27186" y="244773"/>
                  </a:lnTo>
                  <a:cubicBezTo>
                    <a:pt x="19976" y="244773"/>
                    <a:pt x="13061" y="241908"/>
                    <a:pt x="7963" y="236810"/>
                  </a:cubicBezTo>
                  <a:cubicBezTo>
                    <a:pt x="2864" y="231712"/>
                    <a:pt x="0" y="224797"/>
                    <a:pt x="0" y="217587"/>
                  </a:cubicBezTo>
                  <a:lnTo>
                    <a:pt x="0" y="27186"/>
                  </a:lnTo>
                  <a:cubicBezTo>
                    <a:pt x="0" y="19976"/>
                    <a:pt x="2864" y="13061"/>
                    <a:pt x="7963" y="7963"/>
                  </a:cubicBezTo>
                  <a:cubicBezTo>
                    <a:pt x="13061" y="2864"/>
                    <a:pt x="19976" y="0"/>
                    <a:pt x="271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700118" cy="311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49763" y="2653885"/>
            <a:ext cx="5449666" cy="4087249"/>
            <a:chOff x="0" y="0"/>
            <a:chExt cx="812800" cy="609600"/>
          </a:xfrm>
        </p:grpSpPr>
        <p:sp>
          <p:nvSpPr>
            <p:cNvPr id="6" name="Freeform 6"/>
            <p:cNvSpPr/>
            <p:nvPr/>
          </p:nvSpPr>
          <p:spPr>
            <a:xfrm>
              <a:off x="17454" y="0"/>
              <a:ext cx="777891" cy="609600"/>
            </a:xfrm>
            <a:custGeom>
              <a:avLst/>
              <a:gdLst/>
              <a:ahLst/>
              <a:cxnLst/>
              <a:rect l="l" t="t" r="r" b="b"/>
              <a:pathLst>
                <a:path w="777891" h="609600">
                  <a:moveTo>
                    <a:pt x="248253" y="0"/>
                  </a:moveTo>
                  <a:lnTo>
                    <a:pt x="732839" y="0"/>
                  </a:lnTo>
                  <a:cubicBezTo>
                    <a:pt x="747321" y="0"/>
                    <a:pt x="760920" y="6962"/>
                    <a:pt x="769387" y="18710"/>
                  </a:cubicBezTo>
                  <a:cubicBezTo>
                    <a:pt x="777855" y="30458"/>
                    <a:pt x="780159" y="45561"/>
                    <a:pt x="775579" y="59300"/>
                  </a:cubicBezTo>
                  <a:lnTo>
                    <a:pt x="611913" y="550300"/>
                  </a:lnTo>
                  <a:cubicBezTo>
                    <a:pt x="600108" y="585713"/>
                    <a:pt x="566967" y="609600"/>
                    <a:pt x="529639" y="609600"/>
                  </a:cubicBezTo>
                  <a:lnTo>
                    <a:pt x="45053" y="609600"/>
                  </a:lnTo>
                  <a:cubicBezTo>
                    <a:pt x="30571" y="609600"/>
                    <a:pt x="16972" y="602638"/>
                    <a:pt x="8505" y="590890"/>
                  </a:cubicBezTo>
                  <a:cubicBezTo>
                    <a:pt x="37" y="579142"/>
                    <a:pt x="-2267" y="564039"/>
                    <a:pt x="2313" y="550300"/>
                  </a:cubicBezTo>
                  <a:lnTo>
                    <a:pt x="165979" y="59300"/>
                  </a:lnTo>
                  <a:cubicBezTo>
                    <a:pt x="177784" y="23887"/>
                    <a:pt x="210925" y="0"/>
                    <a:pt x="248253" y="0"/>
                  </a:cubicBezTo>
                  <a:close/>
                </a:path>
              </a:pathLst>
            </a:custGeom>
            <a:blipFill>
              <a:blip r:embed="rId2"/>
              <a:stretch>
                <a:fillRect l="-8811" r="-881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822993" y="2653885"/>
            <a:ext cx="5449666" cy="4087249"/>
            <a:chOff x="0" y="0"/>
            <a:chExt cx="812800" cy="609600"/>
          </a:xfrm>
        </p:grpSpPr>
        <p:sp>
          <p:nvSpPr>
            <p:cNvPr id="8" name="Freeform 8"/>
            <p:cNvSpPr/>
            <p:nvPr/>
          </p:nvSpPr>
          <p:spPr>
            <a:xfrm>
              <a:off x="17454" y="0"/>
              <a:ext cx="777891" cy="609600"/>
            </a:xfrm>
            <a:custGeom>
              <a:avLst/>
              <a:gdLst/>
              <a:ahLst/>
              <a:cxnLst/>
              <a:rect l="l" t="t" r="r" b="b"/>
              <a:pathLst>
                <a:path w="777891" h="609600">
                  <a:moveTo>
                    <a:pt x="248253" y="0"/>
                  </a:moveTo>
                  <a:lnTo>
                    <a:pt x="732839" y="0"/>
                  </a:lnTo>
                  <a:cubicBezTo>
                    <a:pt x="747321" y="0"/>
                    <a:pt x="760920" y="6962"/>
                    <a:pt x="769387" y="18710"/>
                  </a:cubicBezTo>
                  <a:cubicBezTo>
                    <a:pt x="777855" y="30458"/>
                    <a:pt x="780159" y="45561"/>
                    <a:pt x="775579" y="59300"/>
                  </a:cubicBezTo>
                  <a:lnTo>
                    <a:pt x="611913" y="550300"/>
                  </a:lnTo>
                  <a:cubicBezTo>
                    <a:pt x="600108" y="585713"/>
                    <a:pt x="566967" y="609600"/>
                    <a:pt x="529639" y="609600"/>
                  </a:cubicBezTo>
                  <a:lnTo>
                    <a:pt x="45053" y="609600"/>
                  </a:lnTo>
                  <a:cubicBezTo>
                    <a:pt x="30571" y="609600"/>
                    <a:pt x="16972" y="602638"/>
                    <a:pt x="8505" y="590890"/>
                  </a:cubicBezTo>
                  <a:cubicBezTo>
                    <a:pt x="37" y="579142"/>
                    <a:pt x="-2267" y="564039"/>
                    <a:pt x="2313" y="550300"/>
                  </a:cubicBezTo>
                  <a:lnTo>
                    <a:pt x="165979" y="59300"/>
                  </a:lnTo>
                  <a:cubicBezTo>
                    <a:pt x="177784" y="23887"/>
                    <a:pt x="210925" y="0"/>
                    <a:pt x="248253" y="0"/>
                  </a:cubicBezTo>
                  <a:close/>
                </a:path>
              </a:pathLst>
            </a:custGeom>
            <a:blipFill>
              <a:blip r:embed="rId3"/>
              <a:stretch>
                <a:fillRect l="-25164" t="-24607" r="-2681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7731734"/>
            <a:ext cx="17811750" cy="2027939"/>
            <a:chOff x="0" y="0"/>
            <a:chExt cx="4952059" cy="534107"/>
          </a:xfrm>
        </p:grpSpPr>
        <p:sp>
          <p:nvSpPr>
            <p:cNvPr id="10" name="Freeform 10"/>
            <p:cNvSpPr/>
            <p:nvPr/>
          </p:nvSpPr>
          <p:spPr>
            <a:xfrm>
              <a:off x="8822" y="0"/>
              <a:ext cx="4934415" cy="534107"/>
            </a:xfrm>
            <a:custGeom>
              <a:avLst/>
              <a:gdLst/>
              <a:ahLst/>
              <a:cxnLst/>
              <a:rect l="l" t="t" r="r" b="b"/>
              <a:pathLst>
                <a:path w="4934415" h="534107">
                  <a:moveTo>
                    <a:pt x="222789" y="0"/>
                  </a:moveTo>
                  <a:lnTo>
                    <a:pt x="4914826" y="0"/>
                  </a:lnTo>
                  <a:cubicBezTo>
                    <a:pt x="4921268" y="0"/>
                    <a:pt x="4927297" y="3167"/>
                    <a:pt x="4930954" y="8469"/>
                  </a:cubicBezTo>
                  <a:cubicBezTo>
                    <a:pt x="4934610" y="13772"/>
                    <a:pt x="4935425" y="20534"/>
                    <a:pt x="4933135" y="26554"/>
                  </a:cubicBezTo>
                  <a:lnTo>
                    <a:pt x="4750140" y="507553"/>
                  </a:lnTo>
                  <a:cubicBezTo>
                    <a:pt x="4744058" y="523540"/>
                    <a:pt x="4728731" y="534107"/>
                    <a:pt x="4711626" y="534107"/>
                  </a:cubicBezTo>
                  <a:lnTo>
                    <a:pt x="19589" y="534107"/>
                  </a:lnTo>
                  <a:cubicBezTo>
                    <a:pt x="13148" y="534107"/>
                    <a:pt x="7118" y="530941"/>
                    <a:pt x="3462" y="525638"/>
                  </a:cubicBezTo>
                  <a:cubicBezTo>
                    <a:pt x="-194" y="520335"/>
                    <a:pt x="-1010" y="513573"/>
                    <a:pt x="1280" y="507553"/>
                  </a:cubicBezTo>
                  <a:lnTo>
                    <a:pt x="184276" y="26554"/>
                  </a:lnTo>
                  <a:cubicBezTo>
                    <a:pt x="190358" y="10567"/>
                    <a:pt x="205684" y="0"/>
                    <a:pt x="2227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66675"/>
              <a:ext cx="4748859" cy="60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34463" y="2693767"/>
            <a:ext cx="8115300" cy="15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753"/>
              </a:lnSpc>
            </a:pPr>
            <a:r>
              <a:rPr lang="en-US" sz="883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AUTOVALUER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8650" y="7731734"/>
            <a:ext cx="8503743" cy="184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133"/>
              </a:lnSpc>
            </a:pPr>
            <a:r>
              <a:rPr lang="en-US" sz="536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SMART CAR RESALE PRICE PREDICTOR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6939" y="609992"/>
            <a:ext cx="8921061" cy="929371"/>
            <a:chOff x="0" y="0"/>
            <a:chExt cx="2700118" cy="244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0118" cy="244773"/>
            </a:xfrm>
            <a:custGeom>
              <a:avLst/>
              <a:gdLst/>
              <a:ahLst/>
              <a:cxnLst/>
              <a:rect l="l" t="t" r="r" b="b"/>
              <a:pathLst>
                <a:path w="2700118" h="244773">
                  <a:moveTo>
                    <a:pt x="27186" y="0"/>
                  </a:moveTo>
                  <a:lnTo>
                    <a:pt x="2672932" y="0"/>
                  </a:lnTo>
                  <a:cubicBezTo>
                    <a:pt x="2680142" y="0"/>
                    <a:pt x="2687057" y="2864"/>
                    <a:pt x="2692155" y="7963"/>
                  </a:cubicBezTo>
                  <a:cubicBezTo>
                    <a:pt x="2697254" y="13061"/>
                    <a:pt x="2700118" y="19976"/>
                    <a:pt x="2700118" y="27186"/>
                  </a:cubicBezTo>
                  <a:lnTo>
                    <a:pt x="2700118" y="217587"/>
                  </a:lnTo>
                  <a:cubicBezTo>
                    <a:pt x="2700118" y="224797"/>
                    <a:pt x="2697254" y="231712"/>
                    <a:pt x="2692155" y="236810"/>
                  </a:cubicBezTo>
                  <a:cubicBezTo>
                    <a:pt x="2687057" y="241908"/>
                    <a:pt x="2680142" y="244773"/>
                    <a:pt x="2672932" y="244773"/>
                  </a:cubicBezTo>
                  <a:lnTo>
                    <a:pt x="27186" y="244773"/>
                  </a:lnTo>
                  <a:cubicBezTo>
                    <a:pt x="19976" y="244773"/>
                    <a:pt x="13061" y="241908"/>
                    <a:pt x="7963" y="236810"/>
                  </a:cubicBezTo>
                  <a:cubicBezTo>
                    <a:pt x="2864" y="231712"/>
                    <a:pt x="0" y="224797"/>
                    <a:pt x="0" y="217587"/>
                  </a:cubicBezTo>
                  <a:lnTo>
                    <a:pt x="0" y="27186"/>
                  </a:lnTo>
                  <a:cubicBezTo>
                    <a:pt x="0" y="19976"/>
                    <a:pt x="2864" y="13061"/>
                    <a:pt x="7963" y="7963"/>
                  </a:cubicBezTo>
                  <a:cubicBezTo>
                    <a:pt x="13061" y="2864"/>
                    <a:pt x="19976" y="0"/>
                    <a:pt x="271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700118" cy="311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8600" y="4610099"/>
            <a:ext cx="8915400" cy="2944323"/>
            <a:chOff x="0" y="0"/>
            <a:chExt cx="1703902" cy="543099"/>
          </a:xfrm>
        </p:grpSpPr>
        <p:sp>
          <p:nvSpPr>
            <p:cNvPr id="6" name="Freeform 6"/>
            <p:cNvSpPr/>
            <p:nvPr/>
          </p:nvSpPr>
          <p:spPr>
            <a:xfrm>
              <a:off x="9137" y="0"/>
              <a:ext cx="1685627" cy="543099"/>
            </a:xfrm>
            <a:custGeom>
              <a:avLst/>
              <a:gdLst/>
              <a:ahLst/>
              <a:cxnLst/>
              <a:rect l="l" t="t" r="r" b="b"/>
              <a:pathLst>
                <a:path w="1685627" h="543099">
                  <a:moveTo>
                    <a:pt x="223880" y="0"/>
                  </a:moveTo>
                  <a:lnTo>
                    <a:pt x="1664947" y="0"/>
                  </a:lnTo>
                  <a:cubicBezTo>
                    <a:pt x="1671727" y="0"/>
                    <a:pt x="1678076" y="3323"/>
                    <a:pt x="1681940" y="8894"/>
                  </a:cubicBezTo>
                  <a:cubicBezTo>
                    <a:pt x="1685804" y="14466"/>
                    <a:pt x="1686692" y="21577"/>
                    <a:pt x="1684316" y="27927"/>
                  </a:cubicBezTo>
                  <a:lnTo>
                    <a:pt x="1502013" y="515172"/>
                  </a:lnTo>
                  <a:cubicBezTo>
                    <a:pt x="1495729" y="531968"/>
                    <a:pt x="1479680" y="543099"/>
                    <a:pt x="1461747" y="543099"/>
                  </a:cubicBezTo>
                  <a:lnTo>
                    <a:pt x="20680" y="543099"/>
                  </a:lnTo>
                  <a:cubicBezTo>
                    <a:pt x="13901" y="543099"/>
                    <a:pt x="7551" y="539775"/>
                    <a:pt x="3687" y="534204"/>
                  </a:cubicBezTo>
                  <a:cubicBezTo>
                    <a:pt x="-176" y="528633"/>
                    <a:pt x="-1064" y="521522"/>
                    <a:pt x="1312" y="515172"/>
                  </a:cubicBezTo>
                  <a:lnTo>
                    <a:pt x="183614" y="27927"/>
                  </a:lnTo>
                  <a:cubicBezTo>
                    <a:pt x="189898" y="11131"/>
                    <a:pt x="205948" y="0"/>
                    <a:pt x="223880" y="0"/>
                  </a:cubicBezTo>
                  <a:close/>
                </a:path>
              </a:pathLst>
            </a:custGeom>
            <a:blipFill>
              <a:blip r:embed="rId2"/>
              <a:stretch>
                <a:fillRect l="594" t="-36254" r="594" b="-3625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65152" y="9185461"/>
            <a:ext cx="17592107" cy="1132414"/>
            <a:chOff x="0" y="0"/>
            <a:chExt cx="4633312" cy="534107"/>
          </a:xfrm>
        </p:grpSpPr>
        <p:sp>
          <p:nvSpPr>
            <p:cNvPr id="8" name="Freeform 8"/>
            <p:cNvSpPr/>
            <p:nvPr/>
          </p:nvSpPr>
          <p:spPr>
            <a:xfrm>
              <a:off x="9429" y="0"/>
              <a:ext cx="4614454" cy="534107"/>
            </a:xfrm>
            <a:custGeom>
              <a:avLst/>
              <a:gdLst/>
              <a:ahLst/>
              <a:cxnLst/>
              <a:rect l="l" t="t" r="r" b="b"/>
              <a:pathLst>
                <a:path w="4614454" h="534107">
                  <a:moveTo>
                    <a:pt x="224136" y="0"/>
                  </a:moveTo>
                  <a:lnTo>
                    <a:pt x="4593518" y="0"/>
                  </a:lnTo>
                  <a:cubicBezTo>
                    <a:pt x="4600402" y="0"/>
                    <a:pt x="4606846" y="3384"/>
                    <a:pt x="4610754" y="9052"/>
                  </a:cubicBezTo>
                  <a:cubicBezTo>
                    <a:pt x="4614662" y="14720"/>
                    <a:pt x="4615534" y="21947"/>
                    <a:pt x="4613086" y="28381"/>
                  </a:cubicBezTo>
                  <a:lnTo>
                    <a:pt x="4431481" y="505726"/>
                  </a:lnTo>
                  <a:cubicBezTo>
                    <a:pt x="4424980" y="522813"/>
                    <a:pt x="4408599" y="534107"/>
                    <a:pt x="4390318" y="534107"/>
                  </a:cubicBezTo>
                  <a:lnTo>
                    <a:pt x="20936" y="534107"/>
                  </a:lnTo>
                  <a:cubicBezTo>
                    <a:pt x="14052" y="534107"/>
                    <a:pt x="7608" y="530723"/>
                    <a:pt x="3700" y="525055"/>
                  </a:cubicBezTo>
                  <a:cubicBezTo>
                    <a:pt x="-208" y="519387"/>
                    <a:pt x="-1079" y="512161"/>
                    <a:pt x="1368" y="505726"/>
                  </a:cubicBezTo>
                  <a:lnTo>
                    <a:pt x="182974" y="28381"/>
                  </a:lnTo>
                  <a:cubicBezTo>
                    <a:pt x="189474" y="11294"/>
                    <a:pt x="205855" y="0"/>
                    <a:pt x="2241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66675"/>
              <a:ext cx="4430112" cy="60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47946" y="1678069"/>
            <a:ext cx="10051342" cy="16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78"/>
              </a:lnSpc>
            </a:pPr>
            <a:r>
              <a:rPr lang="en-US" sz="494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</a:t>
            </a:r>
          </a:p>
          <a:p>
            <a:pPr marL="0" lvl="0" indent="0" algn="just">
              <a:lnSpc>
                <a:spcPts val="6578"/>
              </a:lnSpc>
            </a:pPr>
            <a:r>
              <a:rPr lang="en-US" sz="494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&amp; OBJECTIVE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17360" y="2254696"/>
            <a:ext cx="8077762" cy="678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58"/>
              </a:lnSpc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People often face problems while selling or buying used cars because:</a:t>
            </a:r>
          </a:p>
          <a:p>
            <a:pPr marL="487140" lvl="1" indent="-243570" algn="just">
              <a:lnSpc>
                <a:spcPts val="3158"/>
              </a:lnSpc>
              <a:buFont typeface="Arial"/>
              <a:buChar char="•"/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They do not know the accurate market price.</a:t>
            </a:r>
          </a:p>
          <a:p>
            <a:pPr marL="487140" lvl="1" indent="-243570" algn="just">
              <a:lnSpc>
                <a:spcPts val="3158"/>
              </a:lnSpc>
              <a:buFont typeface="Arial"/>
              <a:buChar char="•"/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 prices depend on many factors such as.       </a:t>
            </a:r>
          </a:p>
          <a:p>
            <a:pPr algn="just">
              <a:lnSpc>
                <a:spcPts val="3158"/>
              </a:lnSpc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   1. Car brand</a:t>
            </a:r>
          </a:p>
          <a:p>
            <a:pPr algn="just">
              <a:lnSpc>
                <a:spcPts val="3158"/>
              </a:lnSpc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   2. Age of the car</a:t>
            </a:r>
          </a:p>
          <a:p>
            <a:pPr algn="just">
              <a:lnSpc>
                <a:spcPts val="3158"/>
              </a:lnSpc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   3. Kilometers driven</a:t>
            </a:r>
          </a:p>
          <a:p>
            <a:pPr algn="just">
              <a:lnSpc>
                <a:spcPts val="3158"/>
              </a:lnSpc>
            </a:pPr>
            <a:endParaRPr lang="en-US" sz="225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87140" lvl="1" indent="-243570" algn="just">
              <a:lnSpc>
                <a:spcPts val="3158"/>
              </a:lnSpc>
              <a:buFont typeface="Arial"/>
              <a:buChar char="•"/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Manually estimating the correct resale value of a car can be difficult and inaccurate.</a:t>
            </a:r>
          </a:p>
          <a:p>
            <a:pPr marL="487140" lvl="1" indent="-243570" algn="just">
              <a:lnSpc>
                <a:spcPts val="3158"/>
              </a:lnSpc>
              <a:buFont typeface="Arial"/>
              <a:buChar char="•"/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solve this problem, we developed AutoValuer, a machine learning based system that predicts the approximate resale price of a car using historical data.</a:t>
            </a:r>
          </a:p>
          <a:p>
            <a:pPr marL="487140" lvl="1" indent="-243570" algn="just">
              <a:lnSpc>
                <a:spcPts val="3158"/>
              </a:lnSpc>
              <a:buFont typeface="Arial"/>
              <a:buChar char="•"/>
            </a:pPr>
            <a:r>
              <a:rPr lang="en-US" sz="22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system takes car details as input and returns an estimated market price.</a:t>
            </a:r>
          </a:p>
          <a:p>
            <a:pPr algn="just">
              <a:lnSpc>
                <a:spcPts val="3158"/>
              </a:lnSpc>
            </a:pPr>
            <a:endParaRPr lang="en-US" sz="225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158"/>
              </a:lnSpc>
              <a:spcBef>
                <a:spcPct val="0"/>
              </a:spcBef>
            </a:pPr>
            <a:endParaRPr lang="en-US" sz="225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2983" y="5201259"/>
            <a:ext cx="451434" cy="432792"/>
            <a:chOff x="0" y="0"/>
            <a:chExt cx="118896" cy="1139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896" cy="113986"/>
            </a:xfrm>
            <a:custGeom>
              <a:avLst/>
              <a:gdLst/>
              <a:ahLst/>
              <a:cxnLst/>
              <a:rect l="l" t="t" r="r" b="b"/>
              <a:pathLst>
                <a:path w="118896" h="113986">
                  <a:moveTo>
                    <a:pt x="56993" y="0"/>
                  </a:moveTo>
                  <a:lnTo>
                    <a:pt x="61903" y="0"/>
                  </a:lnTo>
                  <a:cubicBezTo>
                    <a:pt x="77019" y="0"/>
                    <a:pt x="91515" y="6005"/>
                    <a:pt x="102203" y="16693"/>
                  </a:cubicBezTo>
                  <a:cubicBezTo>
                    <a:pt x="112892" y="27381"/>
                    <a:pt x="118896" y="41878"/>
                    <a:pt x="118896" y="56993"/>
                  </a:cubicBezTo>
                  <a:lnTo>
                    <a:pt x="118896" y="56993"/>
                  </a:lnTo>
                  <a:cubicBezTo>
                    <a:pt x="118896" y="88470"/>
                    <a:pt x="93380" y="113986"/>
                    <a:pt x="61903" y="113986"/>
                  </a:cubicBezTo>
                  <a:lnTo>
                    <a:pt x="56993" y="113986"/>
                  </a:lnTo>
                  <a:cubicBezTo>
                    <a:pt x="41878" y="113986"/>
                    <a:pt x="27381" y="107982"/>
                    <a:pt x="16693" y="97293"/>
                  </a:cubicBezTo>
                  <a:cubicBezTo>
                    <a:pt x="6005" y="86605"/>
                    <a:pt x="0" y="72109"/>
                    <a:pt x="0" y="56993"/>
                  </a:cubicBezTo>
                  <a:lnTo>
                    <a:pt x="0" y="56993"/>
                  </a:lnTo>
                  <a:cubicBezTo>
                    <a:pt x="0" y="41878"/>
                    <a:pt x="6005" y="27381"/>
                    <a:pt x="16693" y="16693"/>
                  </a:cubicBezTo>
                  <a:cubicBezTo>
                    <a:pt x="27381" y="6005"/>
                    <a:pt x="41878" y="0"/>
                    <a:pt x="56993" y="0"/>
                  </a:cubicBezTo>
                  <a:close/>
                </a:path>
              </a:pathLst>
            </a:custGeom>
            <a:solidFill>
              <a:srgbClr val="E10E0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18896" cy="180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38364" y="5201259"/>
            <a:ext cx="451434" cy="432792"/>
            <a:chOff x="0" y="0"/>
            <a:chExt cx="118896" cy="1139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896" cy="113986"/>
            </a:xfrm>
            <a:custGeom>
              <a:avLst/>
              <a:gdLst/>
              <a:ahLst/>
              <a:cxnLst/>
              <a:rect l="l" t="t" r="r" b="b"/>
              <a:pathLst>
                <a:path w="118896" h="113986">
                  <a:moveTo>
                    <a:pt x="56993" y="0"/>
                  </a:moveTo>
                  <a:lnTo>
                    <a:pt x="61903" y="0"/>
                  </a:lnTo>
                  <a:cubicBezTo>
                    <a:pt x="77019" y="0"/>
                    <a:pt x="91515" y="6005"/>
                    <a:pt x="102203" y="16693"/>
                  </a:cubicBezTo>
                  <a:cubicBezTo>
                    <a:pt x="112892" y="27381"/>
                    <a:pt x="118896" y="41878"/>
                    <a:pt x="118896" y="56993"/>
                  </a:cubicBezTo>
                  <a:lnTo>
                    <a:pt x="118896" y="56993"/>
                  </a:lnTo>
                  <a:cubicBezTo>
                    <a:pt x="118896" y="88470"/>
                    <a:pt x="93380" y="113986"/>
                    <a:pt x="61903" y="113986"/>
                  </a:cubicBezTo>
                  <a:lnTo>
                    <a:pt x="56993" y="113986"/>
                  </a:lnTo>
                  <a:cubicBezTo>
                    <a:pt x="41878" y="113986"/>
                    <a:pt x="27381" y="107982"/>
                    <a:pt x="16693" y="97293"/>
                  </a:cubicBezTo>
                  <a:cubicBezTo>
                    <a:pt x="6005" y="86605"/>
                    <a:pt x="0" y="72109"/>
                    <a:pt x="0" y="56993"/>
                  </a:cubicBezTo>
                  <a:lnTo>
                    <a:pt x="0" y="56993"/>
                  </a:lnTo>
                  <a:cubicBezTo>
                    <a:pt x="0" y="41878"/>
                    <a:pt x="6005" y="27381"/>
                    <a:pt x="16693" y="16693"/>
                  </a:cubicBezTo>
                  <a:cubicBezTo>
                    <a:pt x="27381" y="6005"/>
                    <a:pt x="41878" y="0"/>
                    <a:pt x="56993" y="0"/>
                  </a:cubicBezTo>
                  <a:close/>
                </a:path>
              </a:pathLst>
            </a:custGeom>
            <a:solidFill>
              <a:srgbClr val="E10E0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18896" cy="180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2307" y="9447333"/>
            <a:ext cx="17291079" cy="839667"/>
            <a:chOff x="0" y="0"/>
            <a:chExt cx="4554029" cy="801903"/>
          </a:xfrm>
        </p:grpSpPr>
        <p:sp>
          <p:nvSpPr>
            <p:cNvPr id="9" name="Freeform 9"/>
            <p:cNvSpPr/>
            <p:nvPr/>
          </p:nvSpPr>
          <p:spPr>
            <a:xfrm>
              <a:off x="6852" y="0"/>
              <a:ext cx="4540325" cy="801903"/>
            </a:xfrm>
            <a:custGeom>
              <a:avLst/>
              <a:gdLst/>
              <a:ahLst/>
              <a:cxnLst/>
              <a:rect l="l" t="t" r="r" b="b"/>
              <a:pathLst>
                <a:path w="4540325" h="801903">
                  <a:moveTo>
                    <a:pt x="227242" y="0"/>
                  </a:moveTo>
                  <a:lnTo>
                    <a:pt x="4516283" y="0"/>
                  </a:lnTo>
                  <a:cubicBezTo>
                    <a:pt x="4523700" y="0"/>
                    <a:pt x="4530702" y="3423"/>
                    <a:pt x="4535256" y="9277"/>
                  </a:cubicBezTo>
                  <a:cubicBezTo>
                    <a:pt x="4539812" y="15130"/>
                    <a:pt x="4541410" y="22758"/>
                    <a:pt x="4539588" y="29948"/>
                  </a:cubicBezTo>
                  <a:lnTo>
                    <a:pt x="4351566" y="771955"/>
                  </a:lnTo>
                  <a:cubicBezTo>
                    <a:pt x="4347103" y="789568"/>
                    <a:pt x="4331252" y="801903"/>
                    <a:pt x="4313083" y="801903"/>
                  </a:cubicBezTo>
                  <a:lnTo>
                    <a:pt x="24042" y="801903"/>
                  </a:lnTo>
                  <a:cubicBezTo>
                    <a:pt x="16625" y="801903"/>
                    <a:pt x="9624" y="798480"/>
                    <a:pt x="5068" y="792626"/>
                  </a:cubicBezTo>
                  <a:cubicBezTo>
                    <a:pt x="513" y="786773"/>
                    <a:pt x="-1085" y="779145"/>
                    <a:pt x="737" y="771955"/>
                  </a:cubicBezTo>
                  <a:lnTo>
                    <a:pt x="188759" y="29948"/>
                  </a:lnTo>
                  <a:cubicBezTo>
                    <a:pt x="193222" y="12335"/>
                    <a:pt x="209073" y="0"/>
                    <a:pt x="2272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66675"/>
              <a:ext cx="4350829" cy="86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7210" y="480796"/>
            <a:ext cx="8768661" cy="929371"/>
            <a:chOff x="0" y="0"/>
            <a:chExt cx="2700118" cy="2447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0118" cy="244773"/>
            </a:xfrm>
            <a:custGeom>
              <a:avLst/>
              <a:gdLst/>
              <a:ahLst/>
              <a:cxnLst/>
              <a:rect l="l" t="t" r="r" b="b"/>
              <a:pathLst>
                <a:path w="2700118" h="244773">
                  <a:moveTo>
                    <a:pt x="27186" y="0"/>
                  </a:moveTo>
                  <a:lnTo>
                    <a:pt x="2672932" y="0"/>
                  </a:lnTo>
                  <a:cubicBezTo>
                    <a:pt x="2680142" y="0"/>
                    <a:pt x="2687057" y="2864"/>
                    <a:pt x="2692155" y="7963"/>
                  </a:cubicBezTo>
                  <a:cubicBezTo>
                    <a:pt x="2697254" y="13061"/>
                    <a:pt x="2700118" y="19976"/>
                    <a:pt x="2700118" y="27186"/>
                  </a:cubicBezTo>
                  <a:lnTo>
                    <a:pt x="2700118" y="217587"/>
                  </a:lnTo>
                  <a:cubicBezTo>
                    <a:pt x="2700118" y="224797"/>
                    <a:pt x="2697254" y="231712"/>
                    <a:pt x="2692155" y="236810"/>
                  </a:cubicBezTo>
                  <a:cubicBezTo>
                    <a:pt x="2687057" y="241908"/>
                    <a:pt x="2680142" y="244773"/>
                    <a:pt x="2672932" y="244773"/>
                  </a:cubicBezTo>
                  <a:lnTo>
                    <a:pt x="27186" y="244773"/>
                  </a:lnTo>
                  <a:cubicBezTo>
                    <a:pt x="19976" y="244773"/>
                    <a:pt x="13061" y="241908"/>
                    <a:pt x="7963" y="236810"/>
                  </a:cubicBezTo>
                  <a:cubicBezTo>
                    <a:pt x="2864" y="231712"/>
                    <a:pt x="0" y="224797"/>
                    <a:pt x="0" y="217587"/>
                  </a:cubicBezTo>
                  <a:lnTo>
                    <a:pt x="0" y="27186"/>
                  </a:lnTo>
                  <a:cubicBezTo>
                    <a:pt x="0" y="19976"/>
                    <a:pt x="2864" y="13061"/>
                    <a:pt x="7963" y="7963"/>
                  </a:cubicBezTo>
                  <a:cubicBezTo>
                    <a:pt x="13061" y="2864"/>
                    <a:pt x="19976" y="0"/>
                    <a:pt x="271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700118" cy="311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672176" y="1671563"/>
            <a:ext cx="4053517" cy="3189277"/>
          </a:xfrm>
          <a:custGeom>
            <a:avLst/>
            <a:gdLst/>
            <a:ahLst/>
            <a:cxnLst/>
            <a:rect l="l" t="t" r="r" b="b"/>
            <a:pathLst>
              <a:path w="4053517" h="3189277">
                <a:moveTo>
                  <a:pt x="0" y="0"/>
                </a:moveTo>
                <a:lnTo>
                  <a:pt x="4053517" y="0"/>
                </a:lnTo>
                <a:lnTo>
                  <a:pt x="4053517" y="3189276"/>
                </a:lnTo>
                <a:lnTo>
                  <a:pt x="0" y="318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5779" y="1538213"/>
            <a:ext cx="12181132" cy="1043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1"/>
              </a:lnSpc>
            </a:pPr>
            <a:r>
              <a:rPr lang="en-US" sz="601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 &amp;  PREPROCESSING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0161" y="5163159"/>
            <a:ext cx="7132460" cy="315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dataset used in this project contains information about used cars and their selling prices.</a:t>
            </a: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Features in the dataset include:</a:t>
            </a:r>
          </a:p>
          <a:p>
            <a:pPr marL="431797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 Name</a:t>
            </a:r>
          </a:p>
          <a:p>
            <a:pPr marL="431797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Age of car</a:t>
            </a:r>
          </a:p>
          <a:p>
            <a:pPr marL="431797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Kilometers Driven</a:t>
            </a:r>
          </a:p>
          <a:p>
            <a:pPr algn="just">
              <a:lnSpc>
                <a:spcPts val="2799"/>
              </a:lnSpc>
            </a:pP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 Variable: Selling Price (Car Resale Value)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endParaRPr lang="en-US" sz="19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011046" y="5153634"/>
            <a:ext cx="7714647" cy="2463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26"/>
              </a:lnSpc>
              <a:spcBef>
                <a:spcPct val="0"/>
              </a:spcBef>
            </a:pPr>
            <a:r>
              <a:rPr lang="en-US" sz="20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Before training the model, data preprocessing is applied.</a:t>
            </a:r>
          </a:p>
          <a:p>
            <a:pPr marL="435832" lvl="1" indent="-217916" algn="just">
              <a:lnSpc>
                <a:spcPts val="2826"/>
              </a:lnSpc>
              <a:spcBef>
                <a:spcPct val="0"/>
              </a:spcBef>
              <a:buAutoNum type="arabicPeriod"/>
            </a:pPr>
            <a:r>
              <a:rPr lang="en-US" sz="20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Check for missing values .</a:t>
            </a:r>
          </a:p>
          <a:p>
            <a:pPr marL="435832" lvl="1" indent="-217916" algn="just">
              <a:lnSpc>
                <a:spcPts val="2826"/>
              </a:lnSpc>
              <a:spcBef>
                <a:spcPct val="0"/>
              </a:spcBef>
              <a:buAutoNum type="arabicPeriod"/>
            </a:pPr>
            <a:r>
              <a:rPr lang="en-US" sz="20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Encode categorical column car_name into numerical format using OneHotEncoder</a:t>
            </a:r>
          </a:p>
          <a:p>
            <a:pPr algn="just">
              <a:lnSpc>
                <a:spcPts val="2826"/>
              </a:lnSpc>
              <a:spcBef>
                <a:spcPct val="0"/>
              </a:spcBef>
            </a:pPr>
            <a:r>
              <a:rPr lang="en-US" sz="20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ensures the model can properly understand the input data.</a:t>
            </a:r>
          </a:p>
          <a:p>
            <a:pPr algn="just">
              <a:lnSpc>
                <a:spcPts val="2826"/>
              </a:lnSpc>
              <a:spcBef>
                <a:spcPct val="0"/>
              </a:spcBef>
            </a:pPr>
            <a:endParaRPr lang="en-US" sz="201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826"/>
              </a:lnSpc>
              <a:spcBef>
                <a:spcPct val="0"/>
              </a:spcBef>
            </a:pPr>
            <a:endParaRPr lang="en-US" sz="201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6994" y="843881"/>
            <a:ext cx="7504279" cy="170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461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  &amp;</a:t>
            </a:r>
          </a:p>
          <a:p>
            <a:pPr algn="l">
              <a:lnSpc>
                <a:spcPts val="5770"/>
              </a:lnSpc>
            </a:pPr>
            <a:r>
              <a:rPr lang="en-US" sz="461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TARGET USER</a:t>
            </a:r>
          </a:p>
          <a:p>
            <a:pPr marL="0" lvl="0" indent="0" algn="l">
              <a:lnSpc>
                <a:spcPts val="1770"/>
              </a:lnSpc>
            </a:pPr>
            <a:endParaRPr lang="en-US" sz="4616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804718" y="2032014"/>
            <a:ext cx="451434" cy="432792"/>
            <a:chOff x="0" y="0"/>
            <a:chExt cx="118896" cy="1139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8896" cy="113986"/>
            </a:xfrm>
            <a:custGeom>
              <a:avLst/>
              <a:gdLst/>
              <a:ahLst/>
              <a:cxnLst/>
              <a:rect l="l" t="t" r="r" b="b"/>
              <a:pathLst>
                <a:path w="118896" h="113986">
                  <a:moveTo>
                    <a:pt x="56993" y="0"/>
                  </a:moveTo>
                  <a:lnTo>
                    <a:pt x="61903" y="0"/>
                  </a:lnTo>
                  <a:cubicBezTo>
                    <a:pt x="77019" y="0"/>
                    <a:pt x="91515" y="6005"/>
                    <a:pt x="102203" y="16693"/>
                  </a:cubicBezTo>
                  <a:cubicBezTo>
                    <a:pt x="112892" y="27381"/>
                    <a:pt x="118896" y="41878"/>
                    <a:pt x="118896" y="56993"/>
                  </a:cubicBezTo>
                  <a:lnTo>
                    <a:pt x="118896" y="56993"/>
                  </a:lnTo>
                  <a:cubicBezTo>
                    <a:pt x="118896" y="88470"/>
                    <a:pt x="93380" y="113986"/>
                    <a:pt x="61903" y="113986"/>
                  </a:cubicBezTo>
                  <a:lnTo>
                    <a:pt x="56993" y="113986"/>
                  </a:lnTo>
                  <a:cubicBezTo>
                    <a:pt x="41878" y="113986"/>
                    <a:pt x="27381" y="107982"/>
                    <a:pt x="16693" y="97293"/>
                  </a:cubicBezTo>
                  <a:cubicBezTo>
                    <a:pt x="6005" y="86605"/>
                    <a:pt x="0" y="72109"/>
                    <a:pt x="0" y="56993"/>
                  </a:cubicBezTo>
                  <a:lnTo>
                    <a:pt x="0" y="56993"/>
                  </a:lnTo>
                  <a:cubicBezTo>
                    <a:pt x="0" y="41878"/>
                    <a:pt x="6005" y="27381"/>
                    <a:pt x="16693" y="16693"/>
                  </a:cubicBezTo>
                  <a:cubicBezTo>
                    <a:pt x="27381" y="6005"/>
                    <a:pt x="41878" y="0"/>
                    <a:pt x="56993" y="0"/>
                  </a:cubicBezTo>
                  <a:close/>
                </a:path>
              </a:pathLst>
            </a:custGeom>
            <a:solidFill>
              <a:srgbClr val="E10E0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18896" cy="190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61166" y="2678541"/>
            <a:ext cx="8514001" cy="444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•Python – Main programming language</a:t>
            </a:r>
          </a:p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•Pandas – Data handling and preprocessing</a:t>
            </a:r>
          </a:p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•Scikit-learn – RandomForestRegressor Machine learning algorithm used to predict the resale price of cars</a:t>
            </a:r>
          </a:p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ColumnTransformer – Used to apply preprocessing to specific columns.</a:t>
            </a:r>
          </a:p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Pipeline (make_pipeline) – Combines preprocessing &amp; model training into a single workflow.</a:t>
            </a:r>
          </a:p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•OneHotEncoder – Categorical data encoding</a:t>
            </a:r>
          </a:p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•Flask – Web interface for user input and prediction</a:t>
            </a:r>
          </a:p>
          <a:p>
            <a:pPr algn="just">
              <a:lnSpc>
                <a:spcPts val="2969"/>
              </a:lnSpc>
            </a:pPr>
            <a:r>
              <a:rPr lang="en-US" sz="2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•Pickle – Save trained model for deployment</a:t>
            </a:r>
          </a:p>
          <a:p>
            <a:pPr algn="just">
              <a:lnSpc>
                <a:spcPts val="2969"/>
              </a:lnSpc>
              <a:spcBef>
                <a:spcPct val="0"/>
              </a:spcBef>
            </a:pPr>
            <a:endParaRPr lang="en-US" sz="21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804718" y="7571305"/>
            <a:ext cx="451434" cy="432792"/>
            <a:chOff x="0" y="0"/>
            <a:chExt cx="118896" cy="1139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896" cy="113986"/>
            </a:xfrm>
            <a:custGeom>
              <a:avLst/>
              <a:gdLst/>
              <a:ahLst/>
              <a:cxnLst/>
              <a:rect l="l" t="t" r="r" b="b"/>
              <a:pathLst>
                <a:path w="118896" h="113986">
                  <a:moveTo>
                    <a:pt x="56993" y="0"/>
                  </a:moveTo>
                  <a:lnTo>
                    <a:pt x="61903" y="0"/>
                  </a:lnTo>
                  <a:cubicBezTo>
                    <a:pt x="77019" y="0"/>
                    <a:pt x="91515" y="6005"/>
                    <a:pt x="102203" y="16693"/>
                  </a:cubicBezTo>
                  <a:cubicBezTo>
                    <a:pt x="112892" y="27381"/>
                    <a:pt x="118896" y="41878"/>
                    <a:pt x="118896" y="56993"/>
                  </a:cubicBezTo>
                  <a:lnTo>
                    <a:pt x="118896" y="56993"/>
                  </a:lnTo>
                  <a:cubicBezTo>
                    <a:pt x="118896" y="88470"/>
                    <a:pt x="93380" y="113986"/>
                    <a:pt x="61903" y="113986"/>
                  </a:cubicBezTo>
                  <a:lnTo>
                    <a:pt x="56993" y="113986"/>
                  </a:lnTo>
                  <a:cubicBezTo>
                    <a:pt x="41878" y="113986"/>
                    <a:pt x="27381" y="107982"/>
                    <a:pt x="16693" y="97293"/>
                  </a:cubicBezTo>
                  <a:cubicBezTo>
                    <a:pt x="6005" y="86605"/>
                    <a:pt x="0" y="72109"/>
                    <a:pt x="0" y="56993"/>
                  </a:cubicBezTo>
                  <a:lnTo>
                    <a:pt x="0" y="56993"/>
                  </a:lnTo>
                  <a:cubicBezTo>
                    <a:pt x="0" y="41878"/>
                    <a:pt x="6005" y="27381"/>
                    <a:pt x="16693" y="16693"/>
                  </a:cubicBezTo>
                  <a:cubicBezTo>
                    <a:pt x="27381" y="6005"/>
                    <a:pt x="41878" y="0"/>
                    <a:pt x="56993" y="0"/>
                  </a:cubicBezTo>
                  <a:close/>
                </a:path>
              </a:pathLst>
            </a:custGeom>
            <a:solidFill>
              <a:srgbClr val="E10E0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18896" cy="190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561166" y="7965997"/>
            <a:ext cx="7418334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Car Sellers – To estimate the resale value of their car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Car Buyers – To check if the car price is fair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Car Dealers – To quickly evaluate used car prices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• Online Car Platforms – For automatic price estimation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22123" y="7101848"/>
            <a:ext cx="8189345" cy="3185152"/>
            <a:chOff x="4680" y="-76200"/>
            <a:chExt cx="2680882" cy="1244634"/>
          </a:xfrm>
        </p:grpSpPr>
        <p:sp>
          <p:nvSpPr>
            <p:cNvPr id="12" name="Freeform 12"/>
            <p:cNvSpPr/>
            <p:nvPr/>
          </p:nvSpPr>
          <p:spPr>
            <a:xfrm>
              <a:off x="4680" y="0"/>
              <a:ext cx="2428482" cy="1168434"/>
            </a:xfrm>
            <a:custGeom>
              <a:avLst/>
              <a:gdLst/>
              <a:ahLst/>
              <a:cxnLst/>
              <a:rect l="l" t="t" r="r" b="b"/>
              <a:pathLst>
                <a:path w="2771120" h="1168434">
                  <a:moveTo>
                    <a:pt x="245658" y="0"/>
                  </a:moveTo>
                  <a:lnTo>
                    <a:pt x="2728662" y="0"/>
                  </a:lnTo>
                  <a:cubicBezTo>
                    <a:pt x="2741195" y="0"/>
                    <a:pt x="2753087" y="5537"/>
                    <a:pt x="2761155" y="15128"/>
                  </a:cubicBezTo>
                  <a:cubicBezTo>
                    <a:pt x="2769222" y="24720"/>
                    <a:pt x="2772639" y="37385"/>
                    <a:pt x="2770492" y="49732"/>
                  </a:cubicBezTo>
                  <a:lnTo>
                    <a:pt x="2584590" y="1118702"/>
                  </a:lnTo>
                  <a:cubicBezTo>
                    <a:pt x="2579590" y="1147448"/>
                    <a:pt x="2554640" y="1168434"/>
                    <a:pt x="2525462" y="1168434"/>
                  </a:cubicBezTo>
                  <a:lnTo>
                    <a:pt x="42458" y="1168434"/>
                  </a:lnTo>
                  <a:cubicBezTo>
                    <a:pt x="29925" y="1168434"/>
                    <a:pt x="18032" y="1162897"/>
                    <a:pt x="9965" y="1153306"/>
                  </a:cubicBezTo>
                  <a:cubicBezTo>
                    <a:pt x="1898" y="1143714"/>
                    <a:pt x="-1519" y="1131049"/>
                    <a:pt x="628" y="1118702"/>
                  </a:cubicBezTo>
                  <a:lnTo>
                    <a:pt x="186530" y="49732"/>
                  </a:lnTo>
                  <a:cubicBezTo>
                    <a:pt x="191529" y="20986"/>
                    <a:pt x="216480" y="0"/>
                    <a:pt x="24565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76200"/>
              <a:ext cx="2583962" cy="1244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72600" y="388730"/>
            <a:ext cx="8915400" cy="929371"/>
            <a:chOff x="0" y="0"/>
            <a:chExt cx="2700118" cy="2447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00118" cy="244773"/>
            </a:xfrm>
            <a:custGeom>
              <a:avLst/>
              <a:gdLst/>
              <a:ahLst/>
              <a:cxnLst/>
              <a:rect l="l" t="t" r="r" b="b"/>
              <a:pathLst>
                <a:path w="2700118" h="244773">
                  <a:moveTo>
                    <a:pt x="27186" y="0"/>
                  </a:moveTo>
                  <a:lnTo>
                    <a:pt x="2672932" y="0"/>
                  </a:lnTo>
                  <a:cubicBezTo>
                    <a:pt x="2680142" y="0"/>
                    <a:pt x="2687057" y="2864"/>
                    <a:pt x="2692155" y="7963"/>
                  </a:cubicBezTo>
                  <a:cubicBezTo>
                    <a:pt x="2697254" y="13061"/>
                    <a:pt x="2700118" y="19976"/>
                    <a:pt x="2700118" y="27186"/>
                  </a:cubicBezTo>
                  <a:lnTo>
                    <a:pt x="2700118" y="217587"/>
                  </a:lnTo>
                  <a:cubicBezTo>
                    <a:pt x="2700118" y="224797"/>
                    <a:pt x="2697254" y="231712"/>
                    <a:pt x="2692155" y="236810"/>
                  </a:cubicBezTo>
                  <a:cubicBezTo>
                    <a:pt x="2687057" y="241908"/>
                    <a:pt x="2680142" y="244773"/>
                    <a:pt x="2672932" y="244773"/>
                  </a:cubicBezTo>
                  <a:lnTo>
                    <a:pt x="27186" y="244773"/>
                  </a:lnTo>
                  <a:cubicBezTo>
                    <a:pt x="19976" y="244773"/>
                    <a:pt x="13061" y="241908"/>
                    <a:pt x="7963" y="236810"/>
                  </a:cubicBezTo>
                  <a:cubicBezTo>
                    <a:pt x="2864" y="231712"/>
                    <a:pt x="0" y="224797"/>
                    <a:pt x="0" y="217587"/>
                  </a:cubicBezTo>
                  <a:lnTo>
                    <a:pt x="0" y="27186"/>
                  </a:lnTo>
                  <a:cubicBezTo>
                    <a:pt x="0" y="19976"/>
                    <a:pt x="2864" y="13061"/>
                    <a:pt x="7963" y="7963"/>
                  </a:cubicBezTo>
                  <a:cubicBezTo>
                    <a:pt x="13061" y="2864"/>
                    <a:pt x="19976" y="0"/>
                    <a:pt x="271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232">
                    <a:alpha val="100000"/>
                  </a:srgbClr>
                </a:gs>
                <a:gs pos="100000">
                  <a:srgbClr val="D4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2700118" cy="32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561166" y="1984389"/>
            <a:ext cx="4146241" cy="36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11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61166" y="7523680"/>
            <a:ext cx="4146241" cy="71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11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</a:t>
            </a:r>
          </a:p>
          <a:p>
            <a:pPr marL="0" lvl="0" indent="0" algn="l">
              <a:lnSpc>
                <a:spcPts val="2814"/>
              </a:lnSpc>
            </a:pPr>
            <a:endParaRPr lang="en-US" sz="2116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33400" y="2560725"/>
            <a:ext cx="8271318" cy="4441932"/>
            <a:chOff x="0" y="0"/>
            <a:chExt cx="1381342" cy="646586"/>
          </a:xfrm>
        </p:grpSpPr>
        <p:sp>
          <p:nvSpPr>
            <p:cNvPr id="20" name="Freeform 20"/>
            <p:cNvSpPr/>
            <p:nvPr/>
          </p:nvSpPr>
          <p:spPr>
            <a:xfrm>
              <a:off x="10900" y="0"/>
              <a:ext cx="1359542" cy="646586"/>
            </a:xfrm>
            <a:custGeom>
              <a:avLst/>
              <a:gdLst/>
              <a:ahLst/>
              <a:cxnLst/>
              <a:rect l="l" t="t" r="r" b="b"/>
              <a:pathLst>
                <a:path w="1359542" h="646586">
                  <a:moveTo>
                    <a:pt x="233269" y="0"/>
                  </a:moveTo>
                  <a:lnTo>
                    <a:pt x="1329472" y="0"/>
                  </a:lnTo>
                  <a:cubicBezTo>
                    <a:pt x="1339046" y="0"/>
                    <a:pt x="1348048" y="4559"/>
                    <a:pt x="1353713" y="12278"/>
                  </a:cubicBezTo>
                  <a:cubicBezTo>
                    <a:pt x="1359378" y="19996"/>
                    <a:pt x="1361029" y="29951"/>
                    <a:pt x="1358159" y="39085"/>
                  </a:cubicBezTo>
                  <a:lnTo>
                    <a:pt x="1179525" y="607501"/>
                  </a:lnTo>
                  <a:cubicBezTo>
                    <a:pt x="1172215" y="630761"/>
                    <a:pt x="1150654" y="646586"/>
                    <a:pt x="1126272" y="646586"/>
                  </a:cubicBezTo>
                  <a:lnTo>
                    <a:pt x="30069" y="646586"/>
                  </a:lnTo>
                  <a:cubicBezTo>
                    <a:pt x="20495" y="646586"/>
                    <a:pt x="11493" y="642027"/>
                    <a:pt x="5828" y="634308"/>
                  </a:cubicBezTo>
                  <a:cubicBezTo>
                    <a:pt x="163" y="626590"/>
                    <a:pt x="-1487" y="616635"/>
                    <a:pt x="1383" y="607501"/>
                  </a:cubicBezTo>
                  <a:lnTo>
                    <a:pt x="180017" y="39085"/>
                  </a:lnTo>
                  <a:cubicBezTo>
                    <a:pt x="187327" y="15825"/>
                    <a:pt x="208888" y="0"/>
                    <a:pt x="233269" y="0"/>
                  </a:cubicBezTo>
                  <a:close/>
                </a:path>
              </a:pathLst>
            </a:custGeom>
            <a:blipFill>
              <a:blip r:embed="rId2"/>
              <a:stretch>
                <a:fillRect l="560" t="-19258" r="560" b="-1925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331</Words>
  <Application>Microsoft Office PowerPoint</Application>
  <PresentationFormat>Custom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Poppins Bold</vt:lpstr>
      <vt:lpstr>Poppins</vt:lpstr>
      <vt:lpstr>Open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Red Modern Car Dealer Presentation</dc:title>
  <cp:lastModifiedBy>Vishal Verma</cp:lastModifiedBy>
  <cp:revision>2</cp:revision>
  <dcterms:created xsi:type="dcterms:W3CDTF">2006-08-16T00:00:00Z</dcterms:created>
  <dcterms:modified xsi:type="dcterms:W3CDTF">2026-03-06T20:20:51Z</dcterms:modified>
  <dc:identifier>DAHDL22tf2g</dc:identifier>
</cp:coreProperties>
</file>