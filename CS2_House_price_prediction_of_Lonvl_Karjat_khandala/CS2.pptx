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Bold" charset="1" panose="00000800000000000000"/>
      <p:regular r:id="rId12"/>
    </p:embeddedFont>
    <p:embeddedFont>
      <p:font typeface="Inter" charset="1" panose="020B0502030000000004"/>
      <p:regular r:id="rId13"/>
    </p:embeddedFont>
    <p:embeddedFont>
      <p:font typeface="Inter Bold" charset="1" panose="020B0802030000000004"/>
      <p:regular r:id="rId14"/>
    </p:embeddedFont>
    <p:embeddedFont>
      <p:font typeface="Futura Ultra-Bold" charset="1" panose="020B0802020204020204"/>
      <p:regular r:id="rId15"/>
    </p:embeddedFont>
    <p:embeddedFont>
      <p:font typeface="Futura Italics" charset="1" panose="020B0502020204090303"/>
      <p:regular r:id="rId16"/>
    </p:embeddedFont>
    <p:embeddedFont>
      <p:font typeface="Poppins Italics" charset="1" panose="00000500000000000000"/>
      <p:regular r:id="rId17"/>
    </p:embeddedFont>
    <p:embeddedFont>
      <p:font typeface="Poppins Bold Italics" charset="1" panose="00000800000000000000"/>
      <p:regular r:id="rId18"/>
    </p:embeddedFont>
    <p:embeddedFont>
      <p:font typeface="Futura Bold" charset="1" panose="020B0702020204020203"/>
      <p:regular r:id="rId19"/>
    </p:embeddedFont>
    <p:embeddedFont>
      <p:font typeface="Futura" charset="1" panose="020B0502020204020303"/>
      <p:regular r:id="rId20"/>
    </p:embeddedFont>
    <p:embeddedFont>
      <p:font typeface="Poppins Semi-Bold" charset="1" panose="00000700000000000000"/>
      <p:regular r:id="rId21"/>
    </p:embeddedFont>
    <p:embeddedFont>
      <p:font typeface="Canva Sans Bold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29062" y="3363041"/>
            <a:ext cx="9658938" cy="6923959"/>
            <a:chOff x="0" y="0"/>
            <a:chExt cx="11673738" cy="83682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2" y="0"/>
              <a:ext cx="11673681" cy="8368284"/>
            </a:xfrm>
            <a:custGeom>
              <a:avLst/>
              <a:gdLst/>
              <a:ahLst/>
              <a:cxnLst/>
              <a:rect r="r" b="b" t="t" l="l"/>
              <a:pathLst>
                <a:path h="8368284" w="11673681">
                  <a:moveTo>
                    <a:pt x="3127343" y="0"/>
                  </a:moveTo>
                  <a:cubicBezTo>
                    <a:pt x="2668111" y="0"/>
                    <a:pt x="2241010" y="235966"/>
                    <a:pt x="1996408" y="624713"/>
                  </a:cubicBezTo>
                  <a:lnTo>
                    <a:pt x="205073" y="3472815"/>
                  </a:lnTo>
                  <a:cubicBezTo>
                    <a:pt x="-68358" y="3907536"/>
                    <a:pt x="-68358" y="4460621"/>
                    <a:pt x="205073" y="4895342"/>
                  </a:cubicBezTo>
                  <a:lnTo>
                    <a:pt x="2389219" y="8368284"/>
                  </a:lnTo>
                  <a:lnTo>
                    <a:pt x="11673681" y="8368284"/>
                  </a:lnTo>
                  <a:lnTo>
                    <a:pt x="11673681" y="0"/>
                  </a:lnTo>
                  <a:close/>
                </a:path>
              </a:pathLst>
            </a:custGeom>
            <a:blipFill>
              <a:blip r:embed="rId2"/>
              <a:stretch>
                <a:fillRect l="-3763" t="0" r="-3763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-783509" y="5839463"/>
            <a:ext cx="10782167" cy="4447537"/>
            <a:chOff x="0" y="0"/>
            <a:chExt cx="14376222" cy="59300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376273" cy="5930011"/>
            </a:xfrm>
            <a:custGeom>
              <a:avLst/>
              <a:gdLst/>
              <a:ahLst/>
              <a:cxnLst/>
              <a:rect r="r" b="b" t="t" l="l"/>
              <a:pathLst>
                <a:path h="5930011" w="14376273">
                  <a:moveTo>
                    <a:pt x="14376273" y="5930011"/>
                  </a:moveTo>
                  <a:lnTo>
                    <a:pt x="11030712" y="610870"/>
                  </a:lnTo>
                  <a:cubicBezTo>
                    <a:pt x="10791698" y="230759"/>
                    <a:pt x="10373995" y="0"/>
                    <a:pt x="9924796" y="0"/>
                  </a:cubicBezTo>
                  <a:lnTo>
                    <a:pt x="0" y="0"/>
                  </a:lnTo>
                  <a:lnTo>
                    <a:pt x="0" y="5930011"/>
                  </a:lnTo>
                  <a:close/>
                </a:path>
              </a:pathLst>
            </a:custGeom>
            <a:solidFill>
              <a:srgbClr val="AD917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29484" y="1305925"/>
            <a:ext cx="11201017" cy="256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2"/>
              </a:lnSpc>
            </a:pPr>
            <a:r>
              <a:rPr lang="en-US" b="true" sz="4808" spc="96">
                <a:solidFill>
                  <a:srgbClr val="5BA3F8"/>
                </a:solidFill>
                <a:latin typeface="Poppins Bold"/>
                <a:ea typeface="Poppins Bold"/>
                <a:cs typeface="Poppins Bold"/>
                <a:sym typeface="Poppins Bold"/>
              </a:rPr>
              <a:t>LONAVALA  , KARJAT  &amp;  KHANDALA </a:t>
            </a:r>
          </a:p>
          <a:p>
            <a:pPr algn="l">
              <a:lnSpc>
                <a:spcPts val="6732"/>
              </a:lnSpc>
            </a:pPr>
            <a:r>
              <a:rPr lang="en-US" b="true" sz="4808" spc="96">
                <a:solidFill>
                  <a:srgbClr val="5BA3F8"/>
                </a:solidFill>
                <a:latin typeface="Poppins Bold"/>
                <a:ea typeface="Poppins Bold"/>
                <a:cs typeface="Poppins Bold"/>
                <a:sym typeface="Poppins Bold"/>
              </a:rPr>
              <a:t>HOUSE  PRICE PREDICTOR</a:t>
            </a:r>
          </a:p>
          <a:p>
            <a:pPr algn="l">
              <a:lnSpc>
                <a:spcPts val="673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10865" y="7599681"/>
            <a:ext cx="6159987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2EFEB"/>
                </a:solidFill>
                <a:latin typeface="Inter"/>
                <a:ea typeface="Inter"/>
                <a:cs typeface="Inter"/>
                <a:sym typeface="Inter"/>
              </a:rPr>
              <a:t>Machine Learning Based Real Estate Price Estimation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8534" y="8869045"/>
            <a:ext cx="608465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b="true" sz="2299" spc="170">
                <a:solidFill>
                  <a:srgbClr val="F2EFEB"/>
                </a:solidFill>
                <a:latin typeface="Inter Bold"/>
                <a:ea typeface="Inter Bold"/>
                <a:cs typeface="Inter Bold"/>
                <a:sym typeface="Inter Bold"/>
              </a:rPr>
              <a:t>PRESENTED BY: VISHAL VERMA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75577" y="-1280793"/>
            <a:ext cx="3204123" cy="2561587"/>
            <a:chOff x="0" y="0"/>
            <a:chExt cx="843884" cy="674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884" cy="674657"/>
            </a:xfrm>
            <a:custGeom>
              <a:avLst/>
              <a:gdLst/>
              <a:ahLst/>
              <a:cxnLst/>
              <a:rect r="r" b="b" t="t" l="l"/>
              <a:pathLst>
                <a:path h="674657" w="843884">
                  <a:moveTo>
                    <a:pt x="0" y="0"/>
                  </a:moveTo>
                  <a:lnTo>
                    <a:pt x="843884" y="0"/>
                  </a:lnTo>
                  <a:lnTo>
                    <a:pt x="843884" y="674657"/>
                  </a:lnTo>
                  <a:lnTo>
                    <a:pt x="0" y="674657"/>
                  </a:lnTo>
                  <a:close/>
                </a:path>
              </a:pathLst>
            </a:custGeom>
            <a:solidFill>
              <a:srgbClr val="BAA8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43884" cy="7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76274" y="0"/>
            <a:ext cx="8411726" cy="5143500"/>
          </a:xfrm>
          <a:custGeom>
            <a:avLst/>
            <a:gdLst/>
            <a:ahLst/>
            <a:cxnLst/>
            <a:rect r="r" b="b" t="t" l="l"/>
            <a:pathLst>
              <a:path h="5143500" w="8411726">
                <a:moveTo>
                  <a:pt x="0" y="0"/>
                </a:moveTo>
                <a:lnTo>
                  <a:pt x="8411726" y="0"/>
                </a:lnTo>
                <a:lnTo>
                  <a:pt x="841172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22" t="-14131" r="-11244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876274" y="5106076"/>
            <a:ext cx="8411726" cy="5180924"/>
          </a:xfrm>
          <a:custGeom>
            <a:avLst/>
            <a:gdLst/>
            <a:ahLst/>
            <a:cxnLst/>
            <a:rect r="r" b="b" t="t" l="l"/>
            <a:pathLst>
              <a:path h="5180924" w="8411726">
                <a:moveTo>
                  <a:pt x="0" y="0"/>
                </a:moveTo>
                <a:lnTo>
                  <a:pt x="8411726" y="0"/>
                </a:lnTo>
                <a:lnTo>
                  <a:pt x="8411726" y="5180924"/>
                </a:lnTo>
                <a:lnTo>
                  <a:pt x="0" y="5180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23" r="0" b="-2336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25684" y="61847"/>
            <a:ext cx="753493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5"/>
              </a:lnSpc>
            </a:pPr>
            <a:r>
              <a:rPr lang="en-US" b="true" sz="4637" spc="46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Futura Ultra-Bold"/>
                <a:ea typeface="Futura Ultra-Bold"/>
                <a:cs typeface="Futura Ultra-Bold"/>
                <a:sym typeface="Futura Ultra-Bold"/>
              </a:rPr>
              <a:t> Problem Statement</a:t>
            </a:r>
          </a:p>
          <a:p>
            <a:pPr algn="ctr">
              <a:lnSpc>
                <a:spcPts val="556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6009" y="5431946"/>
            <a:ext cx="9099163" cy="2363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6369" indent="-278185" lvl="1">
              <a:lnSpc>
                <a:spcPts val="3685"/>
              </a:lnSpc>
              <a:buAutoNum type="arabicPeriod" startAt="1"/>
            </a:pPr>
            <a:r>
              <a:rPr lang="en-US" sz="2576" i="tru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Futura Italics"/>
                <a:ea typeface="Futura Italics"/>
                <a:cs typeface="Futura Italics"/>
                <a:sym typeface="Futura Italics"/>
              </a:rPr>
              <a:t>Property prices are often decided through rough estimation</a:t>
            </a:r>
          </a:p>
          <a:p>
            <a:pPr algn="l" marL="556369" indent="-278185" lvl="1">
              <a:lnSpc>
                <a:spcPts val="3685"/>
              </a:lnSpc>
              <a:buAutoNum type="arabicPeriod" startAt="1"/>
            </a:pPr>
            <a:r>
              <a:rPr lang="en-US" sz="2576" i="tru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Futura Italics"/>
                <a:ea typeface="Futura Italics"/>
                <a:cs typeface="Futura Italics"/>
                <a:sym typeface="Futura Italics"/>
              </a:rPr>
              <a:t>Different brokers may suggest different values</a:t>
            </a:r>
          </a:p>
          <a:p>
            <a:pPr algn="l" marL="556369" indent="-278185" lvl="1">
              <a:lnSpc>
                <a:spcPts val="3685"/>
              </a:lnSpc>
              <a:buAutoNum type="arabicPeriod" startAt="1"/>
            </a:pPr>
            <a:r>
              <a:rPr lang="en-US" sz="2576" i="tru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Futura Italics"/>
                <a:ea typeface="Futura Italics"/>
                <a:cs typeface="Futura Italics"/>
                <a:sym typeface="Futura Italics"/>
              </a:rPr>
              <a:t>Market trends keep changing</a:t>
            </a:r>
          </a:p>
          <a:p>
            <a:pPr algn="l" marL="556369" indent="-278185" lvl="1">
              <a:lnSpc>
                <a:spcPts val="3685"/>
              </a:lnSpc>
              <a:buAutoNum type="arabicPeriod" startAt="1"/>
            </a:pPr>
            <a:r>
              <a:rPr lang="en-US" sz="2576" i="true">
                <a:gradFill>
                  <a:gsLst>
                    <a:gs pos="0">
                      <a:srgbClr val="0CC0DF">
                        <a:alpha val="100000"/>
                      </a:srgbClr>
                    </a:gs>
                    <a:gs pos="100000">
                      <a:srgbClr val="FFDE59">
                        <a:alpha val="100000"/>
                      </a:srgbClr>
                    </a:gs>
                  </a:gsLst>
                  <a:lin ang="0"/>
                </a:gradFill>
                <a:latin typeface="Futura Italics"/>
                <a:ea typeface="Futura Italics"/>
                <a:cs typeface="Futura Italics"/>
                <a:sym typeface="Futura Italics"/>
              </a:rPr>
              <a:t>There is no instant and reliable way to calculate fair value</a:t>
            </a:r>
          </a:p>
          <a:p>
            <a:pPr algn="l">
              <a:lnSpc>
                <a:spcPts val="368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65144" y="1481072"/>
            <a:ext cx="9411130" cy="470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  <a:spcBef>
                <a:spcPct val="0"/>
              </a:spcBef>
            </a:pPr>
            <a:r>
              <a:rPr lang="en-US" sz="2880" i="true" spc="-11">
                <a:solidFill>
                  <a:srgbClr val="64D8F1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Imagine a person planning to buy or sell a house in Lonavala ,karjatand khandala</a:t>
            </a: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  <a:p>
            <a:pPr algn="l">
              <a:lnSpc>
                <a:spcPts val="3896"/>
              </a:lnSpc>
              <a:spcBef>
                <a:spcPct val="0"/>
              </a:spcBef>
            </a:pPr>
            <a:r>
              <a:rPr lang="en-US" b="true" sz="2783" i="true" spc="-11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Poppins Bold Italics"/>
                <a:ea typeface="Poppins Bold Italics"/>
                <a:cs typeface="Poppins Bold Italics"/>
                <a:sym typeface="Poppins Bold Italics"/>
              </a:rPr>
              <a:t>The first and most important question they face is:</a:t>
            </a:r>
          </a:p>
          <a:p>
            <a:pPr algn="ctr">
              <a:lnSpc>
                <a:spcPts val="3896"/>
              </a:lnSpc>
              <a:spcBef>
                <a:spcPct val="0"/>
              </a:spcBef>
            </a:pPr>
            <a:r>
              <a:rPr lang="en-US" b="true" sz="2783" spc="-11">
                <a:solidFill>
                  <a:srgbClr val="FD3602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the correct price of this property  ?</a:t>
            </a:r>
          </a:p>
          <a:p>
            <a:pPr algn="ctr">
              <a:lnSpc>
                <a:spcPts val="3896"/>
              </a:lnSpc>
              <a:spcBef>
                <a:spcPct val="0"/>
              </a:spcBef>
            </a:pPr>
          </a:p>
          <a:p>
            <a:pPr algn="l">
              <a:lnSpc>
                <a:spcPts val="3896"/>
              </a:lnSpc>
              <a:spcBef>
                <a:spcPct val="0"/>
              </a:spcBef>
            </a:pPr>
            <a:r>
              <a:rPr lang="en-US" b="true" sz="2783" spc="-1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In reality:</a:t>
            </a:r>
          </a:p>
          <a:p>
            <a:pPr algn="ctr">
              <a:lnSpc>
                <a:spcPts val="3896"/>
              </a:lnSpc>
              <a:spcBef>
                <a:spcPct val="0"/>
              </a:spcBef>
            </a:pP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  <a:p>
            <a:pPr algn="l">
              <a:lnSpc>
                <a:spcPts val="335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65144" y="7718873"/>
            <a:ext cx="9127068" cy="220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b="true" sz="2516" spc="-1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 a result, Buyers may pay too much, sellers may sell too low, and investors may make wrong decisions.</a:t>
            </a:r>
          </a:p>
          <a:p>
            <a:pPr algn="just">
              <a:lnSpc>
                <a:spcPts val="3523"/>
              </a:lnSpc>
              <a:spcBef>
                <a:spcPct val="0"/>
              </a:spcBef>
            </a:pPr>
          </a:p>
          <a:p>
            <a:pPr algn="l">
              <a:lnSpc>
                <a:spcPts val="3523"/>
              </a:lnSpc>
              <a:spcBef>
                <a:spcPct val="0"/>
              </a:spcBef>
            </a:pPr>
            <a:r>
              <a:rPr lang="en-US" b="true" sz="2516" spc="-10">
                <a:solidFill>
                  <a:srgbClr val="FD3602"/>
                </a:solidFill>
                <a:latin typeface="Poppins Bold"/>
                <a:ea typeface="Poppins Bold"/>
                <a:cs typeface="Poppins Bold"/>
                <a:sym typeface="Poppins Bold"/>
              </a:rPr>
              <a:t> Therefore, there is a need for a data-driven system that can estimate house prices accurately and instantly.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049758" y="-453189"/>
            <a:ext cx="3204123" cy="2561587"/>
            <a:chOff x="0" y="0"/>
            <a:chExt cx="843884" cy="6746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3884" cy="674657"/>
            </a:xfrm>
            <a:custGeom>
              <a:avLst/>
              <a:gdLst/>
              <a:ahLst/>
              <a:cxnLst/>
              <a:rect r="r" b="b" t="t" l="l"/>
              <a:pathLst>
                <a:path h="674657" w="843884">
                  <a:moveTo>
                    <a:pt x="0" y="0"/>
                  </a:moveTo>
                  <a:lnTo>
                    <a:pt x="843884" y="0"/>
                  </a:lnTo>
                  <a:lnTo>
                    <a:pt x="843884" y="674657"/>
                  </a:lnTo>
                  <a:lnTo>
                    <a:pt x="0" y="674657"/>
                  </a:lnTo>
                  <a:close/>
                </a:path>
              </a:pathLst>
            </a:custGeom>
            <a:solidFill>
              <a:srgbClr val="BAA89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843884" cy="7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75577" y="-1280793"/>
            <a:ext cx="3204123" cy="2561587"/>
            <a:chOff x="0" y="0"/>
            <a:chExt cx="843884" cy="67465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43884" cy="674657"/>
            </a:xfrm>
            <a:custGeom>
              <a:avLst/>
              <a:gdLst/>
              <a:ahLst/>
              <a:cxnLst/>
              <a:rect r="r" b="b" t="t" l="l"/>
              <a:pathLst>
                <a:path h="674657" w="843884">
                  <a:moveTo>
                    <a:pt x="0" y="0"/>
                  </a:moveTo>
                  <a:lnTo>
                    <a:pt x="843884" y="0"/>
                  </a:lnTo>
                  <a:lnTo>
                    <a:pt x="843884" y="674657"/>
                  </a:lnTo>
                  <a:lnTo>
                    <a:pt x="0" y="674657"/>
                  </a:lnTo>
                  <a:close/>
                </a:path>
              </a:pathLst>
            </a:custGeom>
            <a:solidFill>
              <a:srgbClr val="BAA89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843884" cy="7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83877" y="8505087"/>
            <a:ext cx="3204123" cy="2561587"/>
            <a:chOff x="0" y="0"/>
            <a:chExt cx="843884" cy="6746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3884" cy="674657"/>
            </a:xfrm>
            <a:custGeom>
              <a:avLst/>
              <a:gdLst/>
              <a:ahLst/>
              <a:cxnLst/>
              <a:rect r="r" b="b" t="t" l="l"/>
              <a:pathLst>
                <a:path h="674657" w="843884">
                  <a:moveTo>
                    <a:pt x="0" y="0"/>
                  </a:moveTo>
                  <a:lnTo>
                    <a:pt x="843884" y="0"/>
                  </a:lnTo>
                  <a:lnTo>
                    <a:pt x="843884" y="674657"/>
                  </a:lnTo>
                  <a:lnTo>
                    <a:pt x="0" y="674657"/>
                  </a:lnTo>
                  <a:close/>
                </a:path>
              </a:pathLst>
            </a:custGeom>
            <a:solidFill>
              <a:srgbClr val="BAA89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76200"/>
              <a:ext cx="843884" cy="7508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6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491389" y="1932096"/>
            <a:ext cx="8320369" cy="6846325"/>
          </a:xfrm>
          <a:custGeom>
            <a:avLst/>
            <a:gdLst/>
            <a:ahLst/>
            <a:cxnLst/>
            <a:rect r="r" b="b" t="t" l="l"/>
            <a:pathLst>
              <a:path h="6846325" w="8320369">
                <a:moveTo>
                  <a:pt x="0" y="0"/>
                </a:moveTo>
                <a:lnTo>
                  <a:pt x="8320369" y="0"/>
                </a:lnTo>
                <a:lnTo>
                  <a:pt x="8320369" y="6846325"/>
                </a:lnTo>
                <a:lnTo>
                  <a:pt x="0" y="6846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991" t="0" r="-40154" b="-2588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03084" y="270545"/>
            <a:ext cx="8425149" cy="99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9"/>
              </a:lnSpc>
            </a:pPr>
            <a:r>
              <a:rPr lang="en-US" b="true" sz="5841" spc="58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Futura Ultra-Bold"/>
                <a:ea typeface="Futura Ultra-Bold"/>
                <a:cs typeface="Futura Ultra-Bold"/>
                <a:sym typeface="Futura Ultra-Bold"/>
              </a:rPr>
              <a:t> Proposed Solution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3064" y="2032198"/>
            <a:ext cx="8510936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50"/>
              </a:lnSpc>
            </a:pPr>
            <a:r>
              <a:rPr lang="en-US" b="true" sz="30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To address this challenge, this project introduces an intelligent price prediction system.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3064" y="3347940"/>
            <a:ext cx="538625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0"/>
              </a:lnSpc>
            </a:pPr>
            <a:r>
              <a:rPr lang="en-US" b="true" sz="3000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Futura Bold"/>
                <a:ea typeface="Futura Bold"/>
                <a:cs typeface="Futura Bold"/>
                <a:sym typeface="Futura Bold"/>
              </a:rPr>
              <a:t>The system: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30952" y="7755747"/>
            <a:ext cx="7213048" cy="2775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4607" indent="-267303" lvl="1">
              <a:lnSpc>
                <a:spcPts val="3095"/>
              </a:lnSpc>
              <a:buFont typeface="Arial"/>
              <a:buChar char="•"/>
            </a:pPr>
            <a:r>
              <a:rPr lang="en-US" sz="2476">
                <a:solidFill>
                  <a:srgbClr val="64D8F1"/>
                </a:solidFill>
                <a:latin typeface="Futura"/>
                <a:ea typeface="Futura"/>
                <a:cs typeface="Futura"/>
                <a:sym typeface="Futura"/>
              </a:rPr>
              <a:t>The user simply enters the property area, and the location and the system calculates the expected price automatically.</a:t>
            </a:r>
          </a:p>
          <a:p>
            <a:pPr algn="l">
              <a:lnSpc>
                <a:spcPts val="3095"/>
              </a:lnSpc>
            </a:pPr>
          </a:p>
          <a:p>
            <a:pPr algn="l" marL="534607" indent="-267303" lvl="1">
              <a:lnSpc>
                <a:spcPts val="3095"/>
              </a:lnSpc>
              <a:buFont typeface="Arial"/>
              <a:buChar char="•"/>
            </a:pPr>
            <a:r>
              <a:rPr lang="en-US" sz="2476">
                <a:solidFill>
                  <a:srgbClr val="64D8F1"/>
                </a:solidFill>
                <a:latin typeface="Futura"/>
                <a:ea typeface="Futura"/>
                <a:cs typeface="Futura"/>
                <a:sym typeface="Futura"/>
              </a:rPr>
              <a:t>This removes guesswork and brings data-based decision making into real estate valuation.</a:t>
            </a:r>
          </a:p>
          <a:p>
            <a:pPr algn="l">
              <a:lnSpc>
                <a:spcPts val="309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921427" y="3775737"/>
            <a:ext cx="7213048" cy="316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D3602"/>
                </a:solidFill>
                <a:latin typeface="Futura"/>
                <a:ea typeface="Futura"/>
                <a:cs typeface="Futura"/>
                <a:sym typeface="Futura"/>
              </a:rPr>
              <a:t>Learns from historical property data</a:t>
            </a:r>
          </a:p>
          <a:p>
            <a:pPr algn="just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D3602"/>
                </a:solidFill>
                <a:latin typeface="Futura"/>
                <a:ea typeface="Futura"/>
                <a:cs typeface="Futura"/>
                <a:sym typeface="Futura"/>
              </a:rPr>
              <a:t>Identifies the relationship between area place and price</a:t>
            </a:r>
          </a:p>
          <a:p>
            <a:pPr algn="just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D3602"/>
                </a:solidFill>
                <a:latin typeface="Futura"/>
                <a:ea typeface="Futura"/>
                <a:cs typeface="Futura"/>
                <a:sym typeface="Futura"/>
              </a:rPr>
              <a:t>Builds a predictive model</a:t>
            </a:r>
          </a:p>
          <a:p>
            <a:pPr algn="just" marL="604515" indent="-302257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D3602"/>
                </a:solidFill>
                <a:latin typeface="Futura"/>
                <a:ea typeface="Futura"/>
                <a:cs typeface="Futura"/>
                <a:sym typeface="Futura"/>
              </a:rPr>
              <a:t>Generates instant price estimates</a:t>
            </a:r>
          </a:p>
          <a:p>
            <a:pPr algn="just">
              <a:lnSpc>
                <a:spcPts val="41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38387" y="7115449"/>
            <a:ext cx="1526738" cy="45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6"/>
              </a:lnSpc>
              <a:spcBef>
                <a:spcPct val="0"/>
              </a:spcBef>
            </a:pPr>
            <a:r>
              <a:rPr lang="en-US" b="true" sz="2476" spc="-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The </a:t>
            </a:r>
            <a:r>
              <a:rPr lang="en-US" b="true" sz="2476" spc="-9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User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9134962"/>
            <a:ext cx="13596073" cy="0"/>
          </a:xfrm>
          <a:prstGeom prst="line">
            <a:avLst/>
          </a:prstGeom>
          <a:ln cap="flat" w="38100">
            <a:solidFill>
              <a:srgbClr val="8F460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924544" y="2848887"/>
            <a:ext cx="7808661" cy="5178700"/>
          </a:xfrm>
          <a:custGeom>
            <a:avLst/>
            <a:gdLst/>
            <a:ahLst/>
            <a:cxnLst/>
            <a:rect r="r" b="b" t="t" l="l"/>
            <a:pathLst>
              <a:path h="5178700" w="7808661">
                <a:moveTo>
                  <a:pt x="0" y="0"/>
                </a:moveTo>
                <a:lnTo>
                  <a:pt x="7808661" y="0"/>
                </a:lnTo>
                <a:lnTo>
                  <a:pt x="7808661" y="5178701"/>
                </a:lnTo>
                <a:lnTo>
                  <a:pt x="0" y="5178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6" t="0" r="-460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22706" y="460692"/>
            <a:ext cx="9723658" cy="675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47"/>
              </a:lnSpc>
            </a:pPr>
            <a:r>
              <a:rPr lang="en-US" b="true" sz="4700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Semi-Bold"/>
                <a:ea typeface="Poppins Semi-Bold"/>
                <a:cs typeface="Poppins Semi-Bold"/>
                <a:sym typeface="Poppins Semi-Bold"/>
              </a:rPr>
              <a:t>Dataset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7177" y="1461077"/>
            <a:ext cx="16712123" cy="1763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409" indent="-311204" lvl="1">
              <a:lnSpc>
                <a:spcPts val="5563"/>
              </a:lnSpc>
              <a:buFont typeface="Arial"/>
              <a:buChar char="•"/>
            </a:pPr>
            <a:r>
              <a:rPr lang="en-US" b="true" sz="2882">
                <a:solidFill>
                  <a:srgbClr val="FD3602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F</a:t>
            </a:r>
            <a:r>
              <a:rPr lang="en-US" b="true" sz="2882" strike="noStrike" u="none">
                <a:solidFill>
                  <a:srgbClr val="FD3602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or the model to make accurate predictions, it must first learn from past data.</a:t>
            </a:r>
          </a:p>
          <a:p>
            <a:pPr algn="l" marL="622409" indent="-311204" lvl="1">
              <a:lnSpc>
                <a:spcPts val="4036"/>
              </a:lnSpc>
              <a:buFont typeface="Arial"/>
              <a:buChar char="•"/>
            </a:pPr>
            <a:r>
              <a:rPr lang="en-US" b="true" sz="2882" strike="noStrike" u="none">
                <a:solidFill>
                  <a:srgbClr val="FD3602">
                    <a:alpha val="8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The system is trained using historical property records containing:</a:t>
            </a:r>
          </a:p>
          <a:p>
            <a:pPr algn="l">
              <a:lnSpc>
                <a:spcPts val="403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701079" y="7554779"/>
            <a:ext cx="9016512" cy="1472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9"/>
              </a:lnSpc>
              <a:spcBef>
                <a:spcPct val="0"/>
              </a:spcBef>
            </a:pPr>
            <a:r>
              <a:rPr lang="en-US" b="true" sz="2714" i="true" spc="-10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 Italics"/>
                <a:ea typeface="Poppins Bold Italics"/>
                <a:cs typeface="Poppins Bold Italics"/>
                <a:sym typeface="Poppins Bold Italics"/>
              </a:rPr>
              <a:t>Here:</a:t>
            </a:r>
          </a:p>
          <a:p>
            <a:pPr algn="ctr">
              <a:lnSpc>
                <a:spcPts val="3939"/>
              </a:lnSpc>
              <a:spcBef>
                <a:spcPct val="0"/>
              </a:spcBef>
            </a:pPr>
            <a:r>
              <a:rPr lang="en-US" b="true" sz="2814" i="true" spc="-11">
                <a:solidFill>
                  <a:srgbClr val="FD360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Place  &amp; </a:t>
            </a:r>
            <a:r>
              <a:rPr lang="en-US" b="true" sz="2814" i="true" spc="-11">
                <a:solidFill>
                  <a:srgbClr val="FD3602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Area  is the input (Feature)variable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b="true" sz="2814" i="true" spc="-11">
                <a:solidFill>
                  <a:srgbClr val="FF3131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        Price is the output (Target)variable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9090" y="1502440"/>
          <a:ext cx="17297943" cy="4238625"/>
        </p:xfrm>
        <a:graphic>
          <a:graphicData uri="http://schemas.openxmlformats.org/drawingml/2006/table">
            <a:tbl>
              <a:tblPr/>
              <a:tblGrid>
                <a:gridCol w="4057848"/>
                <a:gridCol w="3834164"/>
                <a:gridCol w="9405931"/>
              </a:tblGrid>
              <a:tr h="1076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gradFill>
                            <a:gsLst>
                              <a:gs pos="0">
                                <a:srgbClr val="5170FF">
                                  <a:alpha val="100000"/>
                                </a:srgbClr>
                              </a:gs>
                              <a:gs pos="100000">
                                <a:srgbClr val="FF66C4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gradFill>
                            <a:gsLst>
                              <a:gs pos="0">
                                <a:srgbClr val="5170FF">
                                  <a:alpha val="100000"/>
                                </a:srgbClr>
                              </a:gs>
                              <a:gs pos="100000">
                                <a:srgbClr val="FF66C4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Tool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gradFill>
                            <a:gsLst>
                              <a:gs pos="0">
                                <a:srgbClr val="5170FF">
                                  <a:alpha val="100000"/>
                                </a:srgbClr>
                              </a:gs>
                              <a:gs pos="100000">
                                <a:srgbClr val="FF66C4">
                                  <a:alpha val="100000"/>
                                </a:srgbClr>
                              </a:gs>
                            </a:gsLst>
                            <a:lin ang="0"/>
                          </a:gra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Purpose/Role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solidFill>
                            <a:srgbClr val="64D8F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Data handling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solidFill>
                            <a:srgbClr val="64D8F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Pandas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solidFill>
                            <a:srgbClr val="64D8F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Load and manage property dataset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64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solidFill>
                            <a:srgbClr val="64D8F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Model Training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63"/>
                        </a:lnSpc>
                        <a:defRPr/>
                      </a:pPr>
                      <a:r>
                        <a:rPr lang="en-US" b="true" sz="2616">
                          <a:solidFill>
                            <a:srgbClr val="64D8F1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Scikit-learn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64D8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Build MultiLinear Regression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91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64D8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GUI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779"/>
                        </a:lnSpc>
                        <a:defRPr/>
                      </a:pPr>
                      <a:r>
                        <a:rPr lang="en-US" b="true" sz="2699">
                          <a:solidFill>
                            <a:srgbClr val="64D8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Tkinter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b="true" sz="2899">
                          <a:solidFill>
                            <a:srgbClr val="64D8F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Create user-friendly interface for predictions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606770" y="128442"/>
            <a:ext cx="7938212" cy="69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1"/>
              </a:lnSpc>
              <a:spcBef>
                <a:spcPct val="0"/>
              </a:spcBef>
            </a:pPr>
            <a:r>
              <a:rPr lang="en-US" b="true" sz="3908" spc="-15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Tech Stack   &amp;   Target Users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7350" y="6354525"/>
            <a:ext cx="3096463" cy="47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  <a:spcBef>
                <a:spcPct val="0"/>
              </a:spcBef>
            </a:pPr>
            <a:r>
              <a:rPr lang="en-US" b="true" sz="2676" spc="-10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Target Users :-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5690" y="7039027"/>
            <a:ext cx="16777833" cy="1572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🏡 </a:t>
            </a:r>
            <a:r>
              <a:rPr lang="en-US" b="true" sz="2972" spc="-11">
                <a:solidFill>
                  <a:srgbClr val="FF66C4"/>
                </a:solidFill>
                <a:latin typeface="Poppins Bold"/>
                <a:ea typeface="Poppins Bold"/>
                <a:cs typeface="Poppins Bold"/>
                <a:sym typeface="Poppins Bold"/>
              </a:rPr>
              <a:t>Homebuyers </a:t>
            </a:r>
            <a:r>
              <a:rPr lang="en-US" b="true" sz="2972" spc="-11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–Helps buyers know if the house price is right according to the area.</a:t>
            </a:r>
          </a:p>
          <a:p>
            <a:pPr algn="ctr">
              <a:lnSpc>
                <a:spcPts val="4161"/>
              </a:lnSpc>
              <a:spcBef>
                <a:spcPct val="0"/>
              </a:spcBef>
            </a:pPr>
          </a:p>
          <a:p>
            <a:pPr algn="ctr">
              <a:lnSpc>
                <a:spcPts val="416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54500" y="7501336"/>
            <a:ext cx="16160212" cy="1927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0"/>
              </a:lnSpc>
            </a:pPr>
            <a:r>
              <a:rPr lang="en-US" b="true" sz="2735" spc="-1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 🏢</a:t>
            </a:r>
            <a:r>
              <a:rPr lang="en-US" b="true" sz="2735" spc="-10">
                <a:solidFill>
                  <a:srgbClr val="FF66C4"/>
                </a:solidFill>
                <a:latin typeface="Poppins Bold"/>
                <a:ea typeface="Poppins Bold"/>
                <a:cs typeface="Poppins Bold"/>
                <a:sym typeface="Poppins Bold"/>
              </a:rPr>
              <a:t> Sellers / Real Estate Agents</a:t>
            </a:r>
            <a:r>
              <a:rPr lang="en-US" b="true" sz="2735" spc="-1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 –Helps them fix the correct and competitive selling price.</a:t>
            </a:r>
          </a:p>
          <a:p>
            <a:pPr algn="l">
              <a:lnSpc>
                <a:spcPts val="3830"/>
              </a:lnSpc>
              <a:spcBef>
                <a:spcPct val="0"/>
              </a:spcBef>
            </a:pPr>
            <a:r>
              <a:rPr lang="en-US" b="true" sz="2735" spc="-1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💰 </a:t>
            </a:r>
            <a:r>
              <a:rPr lang="en-US" b="true" sz="2735" spc="-10">
                <a:solidFill>
                  <a:srgbClr val="FF66C4"/>
                </a:solidFill>
                <a:latin typeface="Poppins Bold"/>
                <a:ea typeface="Poppins Bold"/>
                <a:cs typeface="Poppins Bold"/>
                <a:sym typeface="Poppins Bold"/>
              </a:rPr>
              <a:t>Property Investors</a:t>
            </a:r>
            <a:r>
              <a:rPr lang="en-US" b="true" sz="2735" spc="-1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 –Helps them compare properties and choose the best one for investment.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9090" y="743542"/>
            <a:ext cx="3263741" cy="474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6"/>
              </a:lnSpc>
              <a:spcBef>
                <a:spcPct val="0"/>
              </a:spcBef>
            </a:pPr>
            <a:r>
              <a:rPr lang="en-US" b="true" sz="2676" spc="-10">
                <a:solidFill>
                  <a:srgbClr val="FD3602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 Used  :-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51860" y="350713"/>
            <a:ext cx="5332095" cy="67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1"/>
              </a:lnSpc>
              <a:spcBef>
                <a:spcPct val="0"/>
              </a:spcBef>
            </a:pPr>
            <a:r>
              <a:rPr lang="en-US" b="true" sz="3772" spc="-15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00BF63">
                        <a:alpha val="100000"/>
                      </a:srgbClr>
                    </a:gs>
                  </a:gsLst>
                  <a:lin ang="0"/>
                </a:gradFill>
                <a:latin typeface="Poppins Bold"/>
                <a:ea typeface="Poppins Bold"/>
                <a:cs typeface="Poppins Bold"/>
                <a:sym typeface="Poppins Bold"/>
              </a:rPr>
              <a:t>How Prediction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46089" y="1642364"/>
            <a:ext cx="17441911" cy="5258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FD3602"/>
                </a:solidFill>
                <a:latin typeface="Poppins Bold"/>
                <a:ea typeface="Poppins Bold"/>
                <a:cs typeface="Poppins Bold"/>
                <a:sym typeface="Poppins Bold"/>
              </a:rPr>
              <a:t>Step 1: User Input</a:t>
            </a:r>
          </a:p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64D8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   The user enters the property area (in square feet) and location in the system.</a:t>
            </a:r>
          </a:p>
          <a:p>
            <a:pPr algn="l">
              <a:lnSpc>
                <a:spcPts val="4301"/>
              </a:lnSpc>
              <a:spcBef>
                <a:spcPct val="0"/>
              </a:spcBef>
            </a:pPr>
            <a:r>
              <a:rPr lang="en-US" b="true" sz="3072" spc="-12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Step 2: Model Uses Learned Pattern</a:t>
            </a:r>
          </a:p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64D8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 The MultiLinear Regression model has already learned the relationship between location ,area and    price from past data.</a:t>
            </a:r>
          </a:p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FD3602"/>
                </a:solidFill>
                <a:latin typeface="Poppins Bold"/>
                <a:ea typeface="Poppins Bold"/>
                <a:cs typeface="Poppins Bold"/>
                <a:sym typeface="Poppins Bold"/>
              </a:rPr>
              <a:t>Step 3: Price Calculation</a:t>
            </a:r>
          </a:p>
          <a:p>
            <a:pPr algn="ctr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64D8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The model applies the mathematical formula &amp; calculates the estimated house price.</a:t>
            </a:r>
          </a:p>
          <a:p>
            <a:pPr algn="l">
              <a:lnSpc>
                <a:spcPts val="4161"/>
              </a:lnSpc>
              <a:spcBef>
                <a:spcPct val="0"/>
              </a:spcBef>
            </a:pPr>
          </a:p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FD3602"/>
                </a:solidFill>
                <a:latin typeface="Poppins Bold"/>
                <a:ea typeface="Poppins Bold"/>
                <a:cs typeface="Poppins Bold"/>
                <a:sym typeface="Poppins Bold"/>
              </a:rPr>
              <a:t>Step 4: Display Result</a:t>
            </a:r>
          </a:p>
          <a:p>
            <a:pPr algn="l">
              <a:lnSpc>
                <a:spcPts val="4161"/>
              </a:lnSpc>
              <a:spcBef>
                <a:spcPct val="0"/>
              </a:spcBef>
            </a:pPr>
            <a:r>
              <a:rPr lang="en-US" b="true" sz="2972" spc="-11">
                <a:solidFill>
                  <a:srgbClr val="64D8F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     </a:t>
            </a:r>
            <a:r>
              <a:rPr lang="en-US" b="true" sz="2972" spc="-11">
                <a:solidFill>
                  <a:srgbClr val="64D8F1"/>
                </a:solidFill>
                <a:latin typeface="Poppins Bold"/>
                <a:ea typeface="Poppins Bold"/>
                <a:cs typeface="Poppins Bold"/>
                <a:sym typeface="Poppins Bold"/>
              </a:rPr>
              <a:t>The predicted price is shown instantly on the screen through the GUI.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DAHCcm7Ct9s</dc:identifier>
  <dcterms:modified xsi:type="dcterms:W3CDTF">2011-08-01T06:04:30Z</dcterms:modified>
  <cp:revision>1</cp:revision>
  <dc:title>1️⃣ Title Slide 🏠 Lonavala House Price Predictor A Data-Driven Real Estate Valuation System In today’s rapidly growing real estate market, pricing accuracy plays a crucial role in decision-making. This project presents a machine learning-based system</dc:title>
</cp:coreProperties>
</file>