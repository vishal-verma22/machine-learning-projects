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nva Sans" panose="020B0604020202020204" charset="0"/>
      <p:regular r:id="rId6"/>
    </p:embeddedFont>
    <p:embeddedFont>
      <p:font typeface="Montserrat" panose="020F0502020204030204" pitchFamily="2" charset="0"/>
      <p:regular r:id="rId7"/>
    </p:embeddedFont>
    <p:embeddedFont>
      <p:font typeface="Montserrat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b="22929"/>
            <a:stretch>
              <a:fillRect/>
            </a:stretch>
          </p:blipFill>
          <p:spPr>
            <a:xfrm>
              <a:off x="0" y="0"/>
              <a:ext cx="24384000" cy="1019175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t="11443" b="11443"/>
            <a:stretch>
              <a:fillRect/>
            </a:stretch>
          </p:blipFill>
          <p:spPr>
            <a:xfrm>
              <a:off x="0" y="10318750"/>
              <a:ext cx="6000750" cy="339725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7539" b="7539"/>
            <a:stretch>
              <a:fillRect/>
            </a:stretch>
          </p:blipFill>
          <p:spPr>
            <a:xfrm>
              <a:off x="6127750" y="10318750"/>
              <a:ext cx="6000750" cy="339725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t="7539" b="7539"/>
            <a:stretch>
              <a:fillRect/>
            </a:stretch>
          </p:blipFill>
          <p:spPr>
            <a:xfrm>
              <a:off x="12255500" y="10318750"/>
              <a:ext cx="6000750" cy="339725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rcRect t="7539" b="7539"/>
            <a:stretch>
              <a:fillRect/>
            </a:stretch>
          </p:blipFill>
          <p:spPr>
            <a:xfrm>
              <a:off x="18383250" y="10318750"/>
              <a:ext cx="6000750" cy="339725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0" y="0"/>
            <a:ext cx="18288000" cy="7481645"/>
            <a:chOff x="0" y="0"/>
            <a:chExt cx="4816593" cy="19704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970474"/>
            </a:xfrm>
            <a:custGeom>
              <a:avLst/>
              <a:gdLst/>
              <a:ahLst/>
              <a:cxnLst/>
              <a:rect l="l" t="t" r="r" b="b"/>
              <a:pathLst>
                <a:path w="4816592" h="1970474">
                  <a:moveTo>
                    <a:pt x="0" y="0"/>
                  </a:moveTo>
                  <a:lnTo>
                    <a:pt x="4816592" y="0"/>
                  </a:lnTo>
                  <a:lnTo>
                    <a:pt x="4816592" y="1970474"/>
                  </a:lnTo>
                  <a:lnTo>
                    <a:pt x="0" y="1970474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87000"/>
                  </a:srgbClr>
                </a:gs>
                <a:gs pos="100000">
                  <a:srgbClr val="000000">
                    <a:alpha val="54375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2008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2615412">
            <a:off x="8559383" y="7963332"/>
            <a:ext cx="398440" cy="316578"/>
          </a:xfrm>
          <a:custGeom>
            <a:avLst/>
            <a:gdLst/>
            <a:ahLst/>
            <a:cxnLst/>
            <a:rect l="l" t="t" r="r" b="b"/>
            <a:pathLst>
              <a:path w="398440" h="316578">
                <a:moveTo>
                  <a:pt x="0" y="0"/>
                </a:moveTo>
                <a:lnTo>
                  <a:pt x="398440" y="0"/>
                </a:lnTo>
                <a:lnTo>
                  <a:pt x="398440" y="316578"/>
                </a:lnTo>
                <a:lnTo>
                  <a:pt x="0" y="316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615412">
            <a:off x="13138989" y="7963332"/>
            <a:ext cx="398440" cy="316578"/>
          </a:xfrm>
          <a:custGeom>
            <a:avLst/>
            <a:gdLst/>
            <a:ahLst/>
            <a:cxnLst/>
            <a:rect l="l" t="t" r="r" b="b"/>
            <a:pathLst>
              <a:path w="398440" h="316578">
                <a:moveTo>
                  <a:pt x="0" y="0"/>
                </a:moveTo>
                <a:lnTo>
                  <a:pt x="398439" y="0"/>
                </a:lnTo>
                <a:lnTo>
                  <a:pt x="398439" y="316578"/>
                </a:lnTo>
                <a:lnTo>
                  <a:pt x="0" y="316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615412">
            <a:off x="17718594" y="7963332"/>
            <a:ext cx="398440" cy="316578"/>
          </a:xfrm>
          <a:custGeom>
            <a:avLst/>
            <a:gdLst/>
            <a:ahLst/>
            <a:cxnLst/>
            <a:rect l="l" t="t" r="r" b="b"/>
            <a:pathLst>
              <a:path w="398440" h="316578">
                <a:moveTo>
                  <a:pt x="0" y="0"/>
                </a:moveTo>
                <a:lnTo>
                  <a:pt x="398440" y="0"/>
                </a:lnTo>
                <a:lnTo>
                  <a:pt x="398440" y="316578"/>
                </a:lnTo>
                <a:lnTo>
                  <a:pt x="0" y="316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2615412">
            <a:off x="3975818" y="7963332"/>
            <a:ext cx="398440" cy="316578"/>
          </a:xfrm>
          <a:custGeom>
            <a:avLst/>
            <a:gdLst/>
            <a:ahLst/>
            <a:cxnLst/>
            <a:rect l="l" t="t" r="r" b="b"/>
            <a:pathLst>
              <a:path w="398440" h="316578">
                <a:moveTo>
                  <a:pt x="0" y="0"/>
                </a:moveTo>
                <a:lnTo>
                  <a:pt x="398439" y="0"/>
                </a:lnTo>
                <a:lnTo>
                  <a:pt x="398439" y="316578"/>
                </a:lnTo>
                <a:lnTo>
                  <a:pt x="0" y="316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11717" y="1344750"/>
            <a:ext cx="16186906" cy="419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38"/>
              </a:lnSpc>
            </a:pPr>
            <a:r>
              <a:rPr lang="en-US" sz="3041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3117535" y="567653"/>
            <a:ext cx="11009845" cy="76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4"/>
              </a:lnSpc>
            </a:pPr>
            <a:r>
              <a:rPr lang="en-US" sz="55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THANE 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9854" y="5352975"/>
            <a:ext cx="11009845" cy="76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4"/>
              </a:lnSpc>
            </a:pPr>
            <a:r>
              <a:rPr lang="en-US" sz="55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RENT PREDICTION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01900" y="289174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625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82493" y="4581993"/>
            <a:ext cx="8156343" cy="4054462"/>
            <a:chOff x="0" y="0"/>
            <a:chExt cx="1349238" cy="6706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9238" cy="670697"/>
            </a:xfrm>
            <a:custGeom>
              <a:avLst/>
              <a:gdLst/>
              <a:ahLst/>
              <a:cxnLst/>
              <a:rect l="l" t="t" r="r" b="b"/>
              <a:pathLst>
                <a:path w="1349238" h="670697">
                  <a:moveTo>
                    <a:pt x="0" y="0"/>
                  </a:moveTo>
                  <a:lnTo>
                    <a:pt x="1349238" y="0"/>
                  </a:lnTo>
                  <a:lnTo>
                    <a:pt x="1349238" y="670697"/>
                  </a:lnTo>
                  <a:lnTo>
                    <a:pt x="0" y="670697"/>
                  </a:lnTo>
                  <a:close/>
                </a:path>
              </a:pathLst>
            </a:custGeom>
            <a:blipFill>
              <a:blip r:embed="rId2"/>
              <a:stretch>
                <a:fillRect t="-17140" b="-1714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3802402" y="574001"/>
            <a:ext cx="9317994" cy="48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&amp; 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05319" y="1156932"/>
            <a:ext cx="1625687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6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0029" y="2080857"/>
            <a:ext cx="12128662" cy="235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People often don't know the correct rent for a house.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Rent depends on many factors like area, bedrooms, bathroom, and furnishing.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Manual estimation may not be accurate.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Therefore, we developed a machine learning based house rent prediction system.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This system uses machine learning to predict house rent based on these factors.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05319" y="4366274"/>
            <a:ext cx="1625687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6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0029" y="5474659"/>
            <a:ext cx="6512465" cy="349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 house rent accurately using machine learning.</a:t>
            </a:r>
          </a:p>
          <a:p>
            <a:pPr marL="474975" lvl="1" indent="-237487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Understand how different house features like area, bedrooms, bathrooms, and furnishing affect the rent.</a:t>
            </a:r>
          </a:p>
          <a:p>
            <a:pPr marL="474975" lvl="1" indent="-237487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a simple and user-friendly web interface for anyone to estimate rent quickly.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AutoShape 12"/>
          <p:cNvSpPr/>
          <p:nvPr/>
        </p:nvSpPr>
        <p:spPr>
          <a:xfrm flipV="1">
            <a:off x="1028720" y="925830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047770" y="-6807262"/>
            <a:ext cx="0" cy="182880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7566" y="2091690"/>
            <a:ext cx="9450365" cy="310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dataset contains house information in Thane to predict rent.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 included:</a:t>
            </a:r>
          </a:p>
          <a:p>
            <a:pPr marL="474975" lvl="1" indent="-237487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Bedrooms – Number of bedrooms in the house</a:t>
            </a:r>
          </a:p>
          <a:p>
            <a:pPr marL="474975" lvl="1" indent="-237487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Area – Size of the house in square feet</a:t>
            </a:r>
          </a:p>
          <a:p>
            <a:pPr marL="474975" lvl="1" indent="-237487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Bathroom – Number of bathrooms</a:t>
            </a:r>
          </a:p>
          <a:p>
            <a:pPr marL="474975" lvl="1" indent="-237487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Furnishing Status – Furnished, Semi-Furnished, or Unfurnished</a:t>
            </a:r>
          </a:p>
          <a:p>
            <a:pPr marL="474975" lvl="1" indent="-237487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Rent – Target variable to predict monthly rent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49152" y="5145655"/>
            <a:ext cx="1625687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6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37566" y="6069580"/>
            <a:ext cx="7006434" cy="295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 Steps:</a:t>
            </a:r>
          </a:p>
          <a:p>
            <a:pPr marL="453385" lvl="1" indent="-226693" algn="l">
              <a:lnSpc>
                <a:spcPts val="2939"/>
              </a:lnSpc>
              <a:buAutoNum type="arabicPeriod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Checked for missing values and cleaned the data.</a:t>
            </a:r>
          </a:p>
          <a:p>
            <a:pPr marL="453385" lvl="1" indent="-226693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Converted categorical data (Furnishing Status) into numbers using OneHotEncoder.</a:t>
            </a:r>
          </a:p>
          <a:p>
            <a:pPr marL="453385" lvl="1" indent="-226693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Combined encoded features with original numerical features to form the final dataset for model training.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1028720" y="925830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047770" y="-6807262"/>
            <a:ext cx="0" cy="182880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1850515" y="2129790"/>
            <a:ext cx="6214294" cy="4191890"/>
          </a:xfrm>
          <a:custGeom>
            <a:avLst/>
            <a:gdLst/>
            <a:ahLst/>
            <a:cxnLst/>
            <a:rect l="l" t="t" r="r" b="b"/>
            <a:pathLst>
              <a:path w="6214294" h="4191890">
                <a:moveTo>
                  <a:pt x="0" y="0"/>
                </a:moveTo>
                <a:lnTo>
                  <a:pt x="6214294" y="0"/>
                </a:lnTo>
                <a:lnTo>
                  <a:pt x="6214294" y="4191891"/>
                </a:lnTo>
                <a:lnTo>
                  <a:pt x="0" y="4191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40938" y="6478843"/>
            <a:ext cx="9109383" cy="1957141"/>
          </a:xfrm>
          <a:custGeom>
            <a:avLst/>
            <a:gdLst/>
            <a:ahLst/>
            <a:cxnLst/>
            <a:rect l="l" t="t" r="r" b="b"/>
            <a:pathLst>
              <a:path w="9109383" h="1957141">
                <a:moveTo>
                  <a:pt x="0" y="0"/>
                </a:moveTo>
                <a:lnTo>
                  <a:pt x="9109383" y="0"/>
                </a:lnTo>
                <a:lnTo>
                  <a:pt x="9109383" y="1957140"/>
                </a:lnTo>
                <a:lnTo>
                  <a:pt x="0" y="1957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805597" y="441960"/>
            <a:ext cx="9427541" cy="630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PREPROCESSING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9152" y="1167765"/>
            <a:ext cx="1625687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6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20090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625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198" y="1312300"/>
            <a:ext cx="6030237" cy="7662399"/>
            <a:chOff x="0" y="0"/>
            <a:chExt cx="997534" cy="12675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7534" cy="1267529"/>
            </a:xfrm>
            <a:custGeom>
              <a:avLst/>
              <a:gdLst/>
              <a:ahLst/>
              <a:cxnLst/>
              <a:rect l="l" t="t" r="r" b="b"/>
              <a:pathLst>
                <a:path w="997534" h="1267529">
                  <a:moveTo>
                    <a:pt x="0" y="0"/>
                  </a:moveTo>
                  <a:lnTo>
                    <a:pt x="997534" y="0"/>
                  </a:lnTo>
                  <a:lnTo>
                    <a:pt x="997534" y="1267529"/>
                  </a:lnTo>
                  <a:lnTo>
                    <a:pt x="0" y="1267529"/>
                  </a:lnTo>
                  <a:close/>
                </a:path>
              </a:pathLst>
            </a:custGeom>
            <a:blipFill>
              <a:blip r:embed="rId2"/>
              <a:stretch>
                <a:fillRect l="-45299" r="-4529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305546" y="1473192"/>
            <a:ext cx="8366624" cy="552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&amp; TARGET USER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3846" y="3238499"/>
            <a:ext cx="9074884" cy="384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Python – Main programming language used for development</a:t>
            </a:r>
          </a:p>
          <a:p>
            <a:pPr algn="l">
              <a:lnSpc>
                <a:spcPts val="3122"/>
              </a:lnSpc>
            </a:pPr>
            <a:r>
              <a:rPr lang="en-US" sz="22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Pandas – Used for data loading and data handling</a:t>
            </a:r>
          </a:p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lang="en-US" sz="22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Scikit-learn – Used to build and train the machine learning model</a:t>
            </a:r>
          </a:p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lang="en-US" sz="22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Pickle – Used to save the trained model file for future prediction</a:t>
            </a:r>
          </a:p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lang="en-US" sz="22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Flask – Used to create the web interface for user interaction</a:t>
            </a:r>
          </a:p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lang="en-US" sz="22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23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OneHotEncoder</a:t>
            </a:r>
            <a:r>
              <a:rPr lang="en-US" sz="22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To convert categorical features like Furnishing Status into numerical data</a:t>
            </a:r>
          </a:p>
          <a:p>
            <a:pPr algn="l">
              <a:lnSpc>
                <a:spcPts val="2986"/>
              </a:lnSpc>
              <a:spcBef>
                <a:spcPct val="0"/>
              </a:spcBef>
            </a:pPr>
            <a:endParaRPr lang="en-US" sz="223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986"/>
              </a:lnSpc>
              <a:spcBef>
                <a:spcPct val="0"/>
              </a:spcBef>
            </a:pPr>
            <a:endParaRPr lang="en-US" sz="223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986"/>
              </a:lnSpc>
              <a:spcBef>
                <a:spcPct val="0"/>
              </a:spcBef>
            </a:pPr>
            <a:endParaRPr lang="en-US" sz="223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-1028720" y="104775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7278350" y="-5885008"/>
            <a:ext cx="0" cy="182880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121221" y="7162800"/>
            <a:ext cx="10984013" cy="264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system is designed for:</a:t>
            </a:r>
          </a:p>
          <a:p>
            <a:pPr marL="471849" lvl="1" indent="-235925" algn="l">
              <a:lnSpc>
                <a:spcPts val="3059"/>
              </a:lnSpc>
              <a:spcBef>
                <a:spcPct val="0"/>
              </a:spcBef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Tenants / Renters – To estimate fair rent before renting a house.</a:t>
            </a:r>
          </a:p>
          <a:p>
            <a:pPr marL="471849" lvl="1" indent="-235925" algn="l">
              <a:lnSpc>
                <a:spcPts val="3059"/>
              </a:lnSpc>
              <a:spcBef>
                <a:spcPct val="0"/>
              </a:spcBef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Property Owners / Landlords – To set accurate rent for their properties.</a:t>
            </a:r>
          </a:p>
          <a:p>
            <a:pPr marL="471849" lvl="1" indent="-235925" algn="l">
              <a:lnSpc>
                <a:spcPts val="3059"/>
              </a:lnSpc>
              <a:spcBef>
                <a:spcPct val="0"/>
              </a:spcBef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 Estate Analysts – To analyze how house features affect rent.</a:t>
            </a:r>
          </a:p>
          <a:p>
            <a:pPr marL="471849" lvl="1" indent="-235925" algn="l">
              <a:lnSpc>
                <a:spcPts val="3059"/>
              </a:lnSpc>
              <a:spcBef>
                <a:spcPct val="0"/>
              </a:spcBef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Students &amp; Researchers – To learn how machine learning can predict real-world house rents.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  <a:endParaRPr lang="en-US" sz="218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16932" y="2792918"/>
            <a:ext cx="247946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7294" y="6623844"/>
            <a:ext cx="2677706" cy="307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357</Words>
  <Application>Microsoft Office PowerPoint</Application>
  <PresentationFormat>Custom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Montserrat Bold</vt:lpstr>
      <vt:lpstr>Canva Sans</vt:lpstr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Thane House Rent</dc:title>
  <cp:lastModifiedBy>Vishal Verma</cp:lastModifiedBy>
  <cp:revision>2</cp:revision>
  <dcterms:created xsi:type="dcterms:W3CDTF">2006-08-16T00:00:00Z</dcterms:created>
  <dcterms:modified xsi:type="dcterms:W3CDTF">2026-03-06T19:17:17Z</dcterms:modified>
  <dc:identifier>DAHDGTmqLUA</dc:identifier>
</cp:coreProperties>
</file>